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Helvetica Neu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gjADR+bNvF0DAs5ZiGRzpI2GIp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62B71B-601B-46E3-ADC6-341D0FB7BF15}">
  <a:tblStyle styleId="{DA62B71B-601B-46E3-ADC6-341D0FB7BF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sakshamarora9575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00000" y="100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&amp; Chains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500000" y="160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LangChain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00000" y="2350000"/>
            <a:ext cx="8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Teaching the AI to remember you — and to think step by step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30000" y="2900000"/>
            <a:ext cx="6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Session 7 — GenAI Cohort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30000" y="370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Saksham Arora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30000" y="3950000"/>
            <a:ext cx="4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Software Engineer II @ Intuit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30000" y="4200000"/>
            <a:ext cx="524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Ex - Software Engineer @ Microsoft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https://www.linkedin.com/in/sakshamarora9575/</a:t>
            </a: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Goldfish Problem — LLMs Forget Everything</a:t>
            </a:r>
            <a:endParaRPr/>
          </a:p>
        </p:txBody>
      </p:sp>
      <p:sp>
        <p:nvSpPr>
          <p:cNvPr id="96" name="Google Shape;96;p4"/>
          <p:cNvSpPr txBox="1"/>
          <p:nvPr/>
        </p:nvSpPr>
        <p:spPr>
          <a:xfrm>
            <a:off x="457200" y="1248575"/>
            <a:ext cx="80001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An LLM is like a brilliant expert with NO short-term memory.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Every time you send a message, it is a brand-new conversation for the AI.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It does not remember what you said 10 seconds ago.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E86C1"/>
                </a:solidFill>
                <a:latin typeface="Verdana"/>
                <a:ea typeface="Verdana"/>
                <a:cs typeface="Verdana"/>
                <a:sym typeface="Verdana"/>
              </a:rPr>
              <a:t>You:  "My name is Priya."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AI:   "Nice to meet you, Priya!"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E86C1"/>
                </a:solidFill>
                <a:latin typeface="Verdana"/>
                <a:ea typeface="Verdana"/>
                <a:cs typeface="Verdana"/>
                <a:sym typeface="Verdana"/>
              </a:rPr>
              <a:t>You:  "What is my name?"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AI:   "I'm sorry, I don't have that information."   ← forgot already!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C0392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The model itself never changes between messages.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So how do chatbots like ChatGPT 'remember' the conversation?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Answer: a clever trick called MEMORY. Let's see how.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'Memory' Actually Works</a:t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457200" y="851075"/>
            <a:ext cx="84555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The secret: we re-send the past conversation with every new message.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AI doesn't remember — we remind it, every single time.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It is like talking to someone with amnesia, but you hand them 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notebook of everything said so far before each question.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What we send to the model each turn: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1.  The system instructions  ('You are a helpful assistant')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2.  The full past conversation  (you said X, AI said Y, ...)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3.  The new user message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All of this together is called the **context** (or 'context window').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Memory = the system that stores past messages and pastes them back in.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Context Window — The AI's Desk</a:t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Think of the context window as a small DESK in front of the AI.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Everything the AI can 'see' right now must fit on that desk: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    instructions  +  past chat  +  your new question  +  its answer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The desk has a fixed size, measured in 'tokens' (≈ word pieces).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Small models:  ~4,000 tokens  (a few pages)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Modern models:  100,000+ tokens  (a whole book)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**The problem:** a long conversation eventually overflows the desk.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When that happens, old messages fall off and the AI 'forgets' them.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So we need smart ways to MANAGE what stays on the desk.  That's memory.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of Memory — The 4 You'll Actually Use</a:t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571500" y="1000000"/>
            <a:ext cx="80001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1.  Buffer Memory  (remember everything)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Keep the FULL conversation, word for word.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Simple and accurate — but fills the desk fast.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2.  Window Memory  (remember the last few)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Keep only the last N messages. Older ones are dropped.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Like only remembering the last 5 things said.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3.  Summary Memory  (remember the gist)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Replace old messages with a short summary.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'User is Priya, wants a refund, order #123.'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4.  Long-Term Memory  (remember across sessions)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Save facts to a database / vector store.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Recall them days later — even in a new chat.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Memory Should I Use?</a:t>
            </a:r>
            <a:endParaRPr/>
          </a:p>
        </p:txBody>
      </p:sp>
      <p:graphicFrame>
        <p:nvGraphicFramePr>
          <p:cNvPr id="120" name="Google Shape;120;p8"/>
          <p:cNvGraphicFramePr/>
          <p:nvPr/>
        </p:nvGraphicFramePr>
        <p:xfrm>
          <a:off x="457200" y="11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{DA62B71B-601B-46E3-ADC6-341D0FB7BF15}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Memory 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Keeps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Buffer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Everything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High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Short chats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Window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Last N messages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Long casual chats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Summary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 running summary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Medium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Very long chats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Long-Term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Facts in a database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Medium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Remember across days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8"/>
          <p:cNvSpPr txBox="1"/>
          <p:nvPr/>
        </p:nvSpPr>
        <p:spPr>
          <a:xfrm>
            <a:off x="457200" y="405000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Rule of thumb: start with Window memory. Add Summary when chats get long. Add Long-Term when users come back.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Adding Memory to a Chat — In Plain Code</a:t>
            </a:r>
            <a:endParaRPr/>
          </a:p>
        </p:txBody>
      </p:sp>
      <p:sp>
        <p:nvSpPr>
          <p:cNvPr id="127" name="Google Shape;127;p9"/>
          <p:cNvSpPr txBox="1"/>
          <p:nvPr/>
        </p:nvSpPr>
        <p:spPr>
          <a:xfrm>
            <a:off x="457200" y="1050000"/>
            <a:ext cx="8229600" cy="3800000"/>
          </a:xfrm>
          <a:prstGeom prst="rect">
            <a:avLst/>
          </a:prstGeom>
          <a:solidFill>
            <a:srgbClr val="F4F1FB"/>
          </a:solidFill>
          <a:ln>
            <a:noFill/>
          </a:ln>
        </p:spPr>
        <p:txBody>
          <a:bodyPr anchorCtr="0" anchor="t" bIns="45700" lIns="200000" spcFirstLastPara="1" rIns="200000" wrap="square" tIns="18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83FBE"/>
                </a:solidFill>
                <a:latin typeface="Arial"/>
                <a:ea typeface="Arial"/>
                <a:cs typeface="Arial"/>
                <a:sym typeface="Arial"/>
              </a:rPr>
              <a:t>from langchain_openai import ChatOpenAI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83FBE"/>
                </a:solidFill>
                <a:latin typeface="Arial"/>
                <a:ea typeface="Arial"/>
                <a:cs typeface="Arial"/>
                <a:sym typeface="Arial"/>
              </a:rPr>
              <a:t>from langchain_core.messages import HumanMessage, AIMessage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llm = ChatOpenAI(model='gpt-4o-mini')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'history' is our notebook. We keep adding to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history = []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def chat(user_text):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history.append(HumanMessage(user_text))   # remember what user said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reply = llm.invoke(history)               # send the WHOLE history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history.append(AIMessage(reply.content))  # remember the AI's reply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return reply.content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chat('My name is Priya.')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chat('What is my name?')   # -&gt; 'Your name is Priya.'  It remembers!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That's the whole trick. LangChain just automates this notebook for you.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Window Memory — Keep Only the Last Few Messages</a:t>
            </a:r>
            <a:endParaRPr/>
          </a:p>
        </p:txBody>
      </p:sp>
      <p:sp>
        <p:nvSpPr>
          <p:cNvPr id="133" name="Google Shape;133;p10"/>
          <p:cNvSpPr txBox="1"/>
          <p:nvPr/>
        </p:nvSpPr>
        <p:spPr>
          <a:xfrm>
            <a:off x="457200" y="1208875"/>
            <a:ext cx="8229600" cy="3183300"/>
          </a:xfrm>
          <a:prstGeom prst="rect">
            <a:avLst/>
          </a:prstGeom>
          <a:solidFill>
            <a:srgbClr val="F4F1FB"/>
          </a:solidFill>
          <a:ln>
            <a:noFill/>
          </a:ln>
        </p:spPr>
        <p:txBody>
          <a:bodyPr anchorCtr="0" anchor="t" bIns="45700" lIns="200000" spcFirstLastPara="1" rIns="200000" wrap="square" tIns="18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Problem: 'history' grows forever and overflows the desk.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Fix: keep only the last few messages.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WINDOW = 6   # keep the last 6 messages only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def chat(user_text):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history.append(HumanMessage(user_text))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recent = history[-WINDOW:]      # &lt;- just the tail of the notebook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reply  = llm.invoke(recent)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history.append(AIMessage(reply.content))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return reply.content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Older messages still exist in 'history', but we don't SEND them.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The desk stays small, the cost stays low, the chat stays fast.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Chains — Connecting Steps Into a Workflow</a:t>
            </a:r>
            <a:endParaRPr/>
          </a:p>
        </p:txBody>
      </p:sp>
      <p:sp>
        <p:nvSpPr>
          <p:cNvPr id="139" name="Google Shape;139;p11"/>
          <p:cNvSpPr txBox="1"/>
          <p:nvPr/>
        </p:nvSpPr>
        <p:spPr>
          <a:xfrm>
            <a:off x="571500" y="1000000"/>
            <a:ext cx="8000100" cy="4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Quick reminder from last session: a **chain** links steps together.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**The pattern is always:**   step1 → step2 → step3 → answer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 typical chain: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**Prompt**  — fill a template with the user's input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**LLM**     — send it to the model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**Parser**  — clean up the model's answer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In LangChain code you 'pipe' them with the  |  symbol: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E86C1"/>
                </a:solidFill>
                <a:latin typeface="Arial"/>
                <a:ea typeface="Arial"/>
                <a:cs typeface="Arial"/>
                <a:sym typeface="Arial"/>
              </a:rPr>
              <a:t>chain = prompt | llm | parser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Why chains matter today: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Memory plugs INTO a chain — so the chain remembers across turns.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And multi-step reasoning is just a chain with more steps.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Multi-Step Chain — Summarize, Then Translate</a:t>
            </a:r>
            <a:endParaRPr/>
          </a:p>
        </p:txBody>
      </p:sp>
      <p:sp>
        <p:nvSpPr>
          <p:cNvPr id="145" name="Google Shape;145;p12"/>
          <p:cNvSpPr txBox="1"/>
          <p:nvPr/>
        </p:nvSpPr>
        <p:spPr>
          <a:xfrm>
            <a:off x="457200" y="1189025"/>
            <a:ext cx="8229600" cy="3614400"/>
          </a:xfrm>
          <a:prstGeom prst="rect">
            <a:avLst/>
          </a:prstGeom>
          <a:solidFill>
            <a:srgbClr val="F4F1FB"/>
          </a:solidFill>
          <a:ln>
            <a:noFill/>
          </a:ln>
        </p:spPr>
        <p:txBody>
          <a:bodyPr anchorCtr="0" anchor="t" bIns="45700" lIns="200000" spcFirstLastPara="1" rIns="200000" wrap="square" tIns="18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83FBE"/>
                </a:solidFill>
                <a:latin typeface="Arial"/>
                <a:ea typeface="Arial"/>
                <a:cs typeface="Arial"/>
                <a:sym typeface="Arial"/>
              </a:rPr>
              <a:t>from langchain_openai import ChatOpenAI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83FBE"/>
                </a:solidFill>
                <a:latin typeface="Arial"/>
                <a:ea typeface="Arial"/>
                <a:cs typeface="Arial"/>
                <a:sym typeface="Arial"/>
              </a:rPr>
              <a:t>from langchain_core.prompts import ChatPromptTemplate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83FBE"/>
                </a:solidFill>
                <a:latin typeface="Arial"/>
                <a:ea typeface="Arial"/>
                <a:cs typeface="Arial"/>
                <a:sym typeface="Arial"/>
              </a:rPr>
              <a:t>from langchain_core.output_parsers import StrOutputParser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llm    = ChatOpenAI(model='gpt-4o-mini')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parser = StrOutputParser()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Step 1: summarize the article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summarize = ChatPromptTemplate.from_template('Summarize: {text}')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Step 2: translate the summary to Hindi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translate = ChatPromptTemplate.from_template('Translate to Hindi: {text}')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summary_chain = summarize | llm | parser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translate_chain = translate | llm | parser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Run step 1, feed its output into step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summary = summary_chain.invoke({'text': long_article})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result  = translate_chain.invoke({'text': summary})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Output of one step becomes the input of the next. That's a chain.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 Management — What To Keep, What To Drop</a:t>
            </a:r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457200" y="1298225"/>
            <a:ext cx="84405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desk is small. The conversation is big. Something has to give.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Context management = deciding what goes on the desk each turn.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Why it matters: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Too much context  →  expensive, slow, and the AI gets confused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Too little context  →  the AI forgets important details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Wrong context  →  the AI answers the wrong question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'Lost in the middle': models pay most attention to the START and END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of the context — stuff buried in the middle often gets ignored.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So: keep context SHORT, RELEVANT, and put the important bits at the edges.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46B0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Ways to Manage Context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571500" y="1000000"/>
            <a:ext cx="80001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①  Trim  (window)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Drop the oldest messages. Keep only the recent ones.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②  Summarize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Squash old messages into one short paragraph.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'So far: user is Priya, wants refund on order #123.</a:t>
            </a: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'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③  Retrieve  (RAG-style)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Store everything, but only pull back the few bits that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are RELEVANT to the current question.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④  Filter / clean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Remove greetings, repeated text, and irrelevant chatter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before sending to the model.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Most real chatbots combine these: a recent window + a running summary.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Keep It All vs Summarize — A Real Trade-off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4572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E86C1"/>
                </a:solidFill>
                <a:latin typeface="Verdana"/>
                <a:ea typeface="Verdana"/>
                <a:cs typeface="Verdana"/>
                <a:sym typeface="Verdana"/>
              </a:rPr>
              <a:t>Buffer (keep everything)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457200" y="1350000"/>
            <a:ext cx="3900000" cy="3400000"/>
          </a:xfrm>
          <a:prstGeom prst="rect">
            <a:avLst/>
          </a:prstGeom>
          <a:solidFill>
            <a:srgbClr val="ECF3FA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Send the full conversation.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Good: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Nothing is ever lost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Perfectly accurate recall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Bad: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Desk fills up fast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Costs grow every turn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Slows down over time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Use for: short chats (&lt; 10 turns).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48000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Summary (keep the gist)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solidFill>
            <a:srgbClr val="F4F1FB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Replace old chat with a summary.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Good: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Desk stays small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Cheap even after 100 turns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Keeps the key facts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Bad: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Small details can be lost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Summary itself costs an LLM call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Use for: long support / coaching chats.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/>
        </p:nvSpPr>
        <p:spPr>
          <a:xfrm>
            <a:off x="521850" y="185050"/>
            <a:ext cx="849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Multi-Step Reasoning — Think Before You Answer</a:t>
            </a:r>
            <a:endParaRPr sz="1300"/>
          </a:p>
        </p:txBody>
      </p:sp>
      <p:sp>
        <p:nvSpPr>
          <p:cNvPr id="172" name="Google Shape;172;p16"/>
          <p:cNvSpPr txBox="1"/>
          <p:nvPr/>
        </p:nvSpPr>
        <p:spPr>
          <a:xfrm>
            <a:off x="521850" y="980475"/>
            <a:ext cx="8366100" cy="4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Hard questions need thinking, not a snap answer.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Bad: ask the AI a tricky question, it blurts the first thing → often wrong.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Good: make the AI work through it STEP BY STEP → much more accurate.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1E884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This is called Chain-of-Thought reasoning.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Just like a student showing their working in a maths exam.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Multi-step reasoning systems break a big task into small steps: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1.  Understand the question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2.  Break it into smaller parts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3.  Solve each part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4.  Combine the parts into a final answer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Each step can be its own node/chain — and can use memory + tools.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Snap Answer vs Step-by-Step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4572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Snap Answer (often wrong)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457200" y="1350000"/>
            <a:ext cx="3900000" cy="340000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Q: A shop has 23 apples.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It sells 17, then buys 30 more,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then sells half. How many left?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AI: '18.'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(No working shown. Just a guess.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Easy to get wrong.)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48000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Step-by-Step (reliable)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solidFill>
            <a:srgbClr val="EEF7F0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Q: same question +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'Let's think step by step.'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AI: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23 - 17 = 6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6 + 30 = 36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36 / 2 = 18 sold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36 - 18 = 18 left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Answer: 18 apples.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(Same answer here — but on hard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problems, working = correctness.)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Multi-Step Reasoning System — Visualized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57200" y="94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 'research assistant' that remembers, looks things up, then reasons to an answer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400000" y="1500000"/>
            <a:ext cx="1850000" cy="620000"/>
          </a:xfrm>
          <a:prstGeom prst="roundRect">
            <a:avLst>
              <a:gd fmla="val 16667" name="adj"/>
            </a:avLst>
          </a:prstGeom>
          <a:solidFill>
            <a:srgbClr val="05A98A"/>
          </a:solidFill>
          <a:ln cap="flat" cmpd="sng" w="9525">
            <a:solidFill>
              <a:srgbClr val="05A9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User question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2650000" y="1500000"/>
            <a:ext cx="1850000" cy="6200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Recall memory</a:t>
            </a:r>
            <a:b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(who, past chat)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4900000" y="1500000"/>
            <a:ext cx="1850000" cy="620000"/>
          </a:xfrm>
          <a:prstGeom prst="roundRect">
            <a:avLst>
              <a:gd fmla="val 16667" name="adj"/>
            </a:avLst>
          </a:prstGeom>
          <a:solidFill>
            <a:srgbClr val="683FBE"/>
          </a:solidFill>
          <a:ln cap="flat" cmpd="sng" w="9525">
            <a:solidFill>
              <a:srgbClr val="683F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Break into</a:t>
            </a:r>
            <a:b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small steps</a:t>
            </a:r>
            <a:endParaRPr/>
          </a:p>
        </p:txBody>
      </p:sp>
      <p:cxnSp>
        <p:nvCxnSpPr>
          <p:cNvPr id="191" name="Google Shape;191;p18"/>
          <p:cNvCxnSpPr/>
          <p:nvPr/>
        </p:nvCxnSpPr>
        <p:spPr>
          <a:xfrm>
            <a:off x="2250000" y="1810000"/>
            <a:ext cx="400000" cy="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2" name="Google Shape;192;p18"/>
          <p:cNvCxnSpPr/>
          <p:nvPr/>
        </p:nvCxnSpPr>
        <p:spPr>
          <a:xfrm>
            <a:off x="4500000" y="1810000"/>
            <a:ext cx="400000" cy="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3" name="Google Shape;193;p18"/>
          <p:cNvSpPr/>
          <p:nvPr/>
        </p:nvSpPr>
        <p:spPr>
          <a:xfrm>
            <a:off x="4900000" y="2450000"/>
            <a:ext cx="1850000" cy="62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 cap="flat" cmpd="sng" w="9525">
            <a:solidFill>
              <a:srgbClr val="D46B0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Solve each step</a:t>
            </a:r>
            <a:b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(use tools / RAG)</a:t>
            </a:r>
            <a:endParaRPr/>
          </a:p>
        </p:txBody>
      </p:sp>
      <p:cxnSp>
        <p:nvCxnSpPr>
          <p:cNvPr id="194" name="Google Shape;194;p18"/>
          <p:cNvCxnSpPr/>
          <p:nvPr/>
        </p:nvCxnSpPr>
        <p:spPr>
          <a:xfrm>
            <a:off x="5825000" y="2120000"/>
            <a:ext cx="0" cy="33000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5" name="Google Shape;195;p18"/>
          <p:cNvSpPr/>
          <p:nvPr/>
        </p:nvSpPr>
        <p:spPr>
          <a:xfrm>
            <a:off x="2650000" y="3400000"/>
            <a:ext cx="1850000" cy="620000"/>
          </a:xfrm>
          <a:prstGeom prst="roundRect">
            <a:avLst>
              <a:gd fmla="val 16667" name="adj"/>
            </a:avLst>
          </a:prstGeom>
          <a:solidFill>
            <a:srgbClr val="683FBE"/>
          </a:solidFill>
          <a:ln cap="flat" cmpd="sng" w="9525">
            <a:solidFill>
              <a:srgbClr val="683F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Combine into</a:t>
            </a:r>
            <a:b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final answer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400000" y="3400000"/>
            <a:ext cx="1850000" cy="620000"/>
          </a:xfrm>
          <a:prstGeom prst="roundRect">
            <a:avLst>
              <a:gd fmla="val 16667" name="adj"/>
            </a:avLst>
          </a:prstGeom>
          <a:solidFill>
            <a:srgbClr val="1E884D"/>
          </a:solidFill>
          <a:ln cap="flat" cmpd="sng" w="9525">
            <a:solidFill>
              <a:srgbClr val="1E88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Save to memory</a:t>
            </a:r>
            <a:b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+ reply</a:t>
            </a:r>
            <a:endParaRPr/>
          </a:p>
        </p:txBody>
      </p:sp>
      <p:cxnSp>
        <p:nvCxnSpPr>
          <p:cNvPr id="197" name="Google Shape;197;p18"/>
          <p:cNvCxnSpPr/>
          <p:nvPr/>
        </p:nvCxnSpPr>
        <p:spPr>
          <a:xfrm flipH="1">
            <a:off x="3575000" y="3070000"/>
            <a:ext cx="1325000" cy="33000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8" name="Google Shape;198;p18"/>
          <p:cNvCxnSpPr/>
          <p:nvPr/>
        </p:nvCxnSpPr>
        <p:spPr>
          <a:xfrm rot="10800000">
            <a:off x="2250000" y="3710000"/>
            <a:ext cx="400000" cy="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9" name="Google Shape;199;p18"/>
          <p:cNvSpPr txBox="1"/>
          <p:nvPr/>
        </p:nvSpPr>
        <p:spPr>
          <a:xfrm>
            <a:off x="457200" y="4350000"/>
            <a:ext cx="8229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Memory feeds the steps  •  each step can call a tool  •  the answer is saved back to memory.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Putting It Together — A Chatbot That Remembers &amp; Reasons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Use case: a personal finance helper for QuickBooks users.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1.  Window memory keeps the last few messages on the desk.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     →  natural back-and-forth, no repeating yourself.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2.  Summary memory stores the gist of the older chat.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     →  'User runs a bakery, wants to cut monthly costs.'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3.  A chain breaks each question into steps and reasons through it.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     →  fetch numbers → calculate → explain in plain words.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4.  Long-term memory remembers the user next week — no re-explaining.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Result: a helper that feels like it KNOWS you and THINKS before it answers.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/>
        </p:nvSpPr>
        <p:spPr>
          <a:xfrm>
            <a:off x="500000" y="1500000"/>
            <a:ext cx="80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Questions?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500000" y="240000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Today: how to give AI MEMORY and make it REASON.   Next: AI Agents that ACT.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500000" y="350000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Saksham Arora  •  Software Engineer II @ Intuit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