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lus Jakarta Sans ExtraBold"/>
      <p:bold r:id="rId29"/>
      <p:boldItalic r:id="rId30"/>
    </p:embeddedFont>
    <p:embeddedFont>
      <p:font typeface="Roboto"/>
      <p:regular r:id="rId31"/>
      <p:bold r:id="rId32"/>
      <p:italic r:id="rId33"/>
      <p:boldItalic r:id="rId34"/>
    </p:embeddedFont>
    <p:embeddedFont>
      <p:font typeface="Inter"/>
      <p:regular r:id="rId35"/>
      <p:bold r:id="rId36"/>
      <p:italic r:id="rId37"/>
      <p:boldItalic r:id="rId38"/>
    </p:embeddedFont>
    <p:embeddedFont>
      <p:font typeface="Helvetica Neu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3" roundtripDataSignature="AMtx7mhioUBLlJMsjedbtvBG+mU9H6l/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99DBB1-B820-44BB-8052-84FF72B980C3}">
  <a:tblStyle styleId="{1199DBB1-B820-44BB-8052-84FF72B980C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20" Type="http://schemas.openxmlformats.org/officeDocument/2006/relationships/slide" Target="slides/slide14.xml"/><Relationship Id="rId42" Type="http://schemas.openxmlformats.org/officeDocument/2006/relationships/font" Target="fonts/HelveticaNeue-boldItalic.fntdata"/><Relationship Id="rId41" Type="http://schemas.openxmlformats.org/officeDocument/2006/relationships/font" Target="fonts/HelveticaNeue-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Extra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font" Target="fonts/PlusJakartaSansExtraBold-boldItalic.fntdata"/><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35" Type="http://schemas.openxmlformats.org/officeDocument/2006/relationships/font" Target="fonts/Inter-regular.fntdata"/><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37" Type="http://schemas.openxmlformats.org/officeDocument/2006/relationships/font" Target="fonts/Inter-italic.fntdata"/><Relationship Id="rId14" Type="http://schemas.openxmlformats.org/officeDocument/2006/relationships/slide" Target="slides/slide8.xml"/><Relationship Id="rId36" Type="http://schemas.openxmlformats.org/officeDocument/2006/relationships/font" Target="fonts/Inter-bold.fntdata"/><Relationship Id="rId17" Type="http://schemas.openxmlformats.org/officeDocument/2006/relationships/slide" Target="slides/slide11.xml"/><Relationship Id="rId39" Type="http://schemas.openxmlformats.org/officeDocument/2006/relationships/font" Target="fonts/HelveticaNeue-regular.fntdata"/><Relationship Id="rId16" Type="http://schemas.openxmlformats.org/officeDocument/2006/relationships/slide" Target="slides/slide10.xml"/><Relationship Id="rId38" Type="http://schemas.openxmlformats.org/officeDocument/2006/relationships/font" Target="fonts/Int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e01d3d70f_0_3: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ee01d3d70f_0_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07" name="Google Shape;107;g3ee01d3d70f_0_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b939b1e25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b939b1e2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e01d3d70f_0_61: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ee01d3d70f_0_6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27" name="Google Shape;127;g3ee01d3d70f_0_6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e01d3d70f_0_68: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ee01d3d70f_0_6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35" name="Google Shape;135;g3ee01d3d70f_0_6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e01d3d70f_0_131: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ee01d3d70f_0_13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69" name="Google Shape;169;g3ee01d3d70f_0_13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6f6401ce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e6f6401ce1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linkedin.com/in/sakshamarora957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platform.openai.com/tokeniz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rsor.com/download" TargetMode="External"/><Relationship Id="rId4" Type="http://schemas.openxmlformats.org/officeDocument/2006/relationships/hyperlink" Target="https://antigravity.google/" TargetMode="External"/><Relationship Id="rId5" Type="http://schemas.openxmlformats.org/officeDocument/2006/relationships/hyperlink" Target="https://windsurf.com/" TargetMode="External"/><Relationship Id="rId6" Type="http://schemas.openxmlformats.org/officeDocument/2006/relationships/hyperlink" Target="https://qoder.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linkedin.com/in/sakshamarora957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txBox="1"/>
          <p:nvPr/>
        </p:nvSpPr>
        <p:spPr>
          <a:xfrm>
            <a:off x="500000" y="1000000"/>
            <a:ext cx="7000000" cy="5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333333"/>
                </a:solidFill>
                <a:latin typeface="Helvetica Neue"/>
                <a:ea typeface="Helvetica Neue"/>
                <a:cs typeface="Helvetica Neue"/>
                <a:sym typeface="Helvetica Neue"/>
              </a:rPr>
              <a:t>Foundations of</a:t>
            </a:r>
            <a:endParaRPr/>
          </a:p>
        </p:txBody>
      </p:sp>
      <p:sp>
        <p:nvSpPr>
          <p:cNvPr id="86" name="Google Shape;86;p1"/>
          <p:cNvSpPr txBox="1"/>
          <p:nvPr/>
        </p:nvSpPr>
        <p:spPr>
          <a:xfrm>
            <a:off x="500000" y="1550000"/>
            <a:ext cx="7000000" cy="5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333333"/>
                </a:solidFill>
                <a:latin typeface="Helvetica Neue"/>
                <a:ea typeface="Helvetica Neue"/>
                <a:cs typeface="Helvetica Neue"/>
                <a:sym typeface="Helvetica Neue"/>
              </a:rPr>
              <a:t>Generative AI</a:t>
            </a:r>
            <a:endParaRPr/>
          </a:p>
        </p:txBody>
      </p:sp>
      <p:sp>
        <p:nvSpPr>
          <p:cNvPr id="87" name="Google Shape;87;p1"/>
          <p:cNvSpPr txBox="1"/>
          <p:nvPr/>
        </p:nvSpPr>
        <p:spPr>
          <a:xfrm>
            <a:off x="500000" y="2200000"/>
            <a:ext cx="8000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683FBE"/>
                </a:solidFill>
                <a:latin typeface="Helvetica Neue"/>
                <a:ea typeface="Helvetica Neue"/>
                <a:cs typeface="Helvetica Neue"/>
                <a:sym typeface="Helvetica Neue"/>
              </a:rPr>
              <a:t>LLMs</a:t>
            </a:r>
            <a:endParaRPr/>
          </a:p>
        </p:txBody>
      </p:sp>
      <p:sp>
        <p:nvSpPr>
          <p:cNvPr id="88" name="Google Shape;88;p1"/>
          <p:cNvSpPr txBox="1"/>
          <p:nvPr/>
        </p:nvSpPr>
        <p:spPr>
          <a:xfrm>
            <a:off x="530000" y="2750000"/>
            <a:ext cx="6000000" cy="2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5A98A"/>
                </a:solidFill>
                <a:latin typeface="Verdana"/>
                <a:ea typeface="Verdana"/>
                <a:cs typeface="Verdana"/>
                <a:sym typeface="Verdana"/>
              </a:rPr>
              <a:t>Session 1 — GenAI Cohort</a:t>
            </a:r>
            <a:endParaRPr/>
          </a:p>
        </p:txBody>
      </p:sp>
      <p:sp>
        <p:nvSpPr>
          <p:cNvPr id="89" name="Google Shape;89;p1"/>
          <p:cNvSpPr txBox="1"/>
          <p:nvPr/>
        </p:nvSpPr>
        <p:spPr>
          <a:xfrm>
            <a:off x="530000" y="3500000"/>
            <a:ext cx="3000000" cy="2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33"/>
                </a:solidFill>
                <a:latin typeface="Verdana"/>
                <a:ea typeface="Verdana"/>
                <a:cs typeface="Verdana"/>
                <a:sym typeface="Verdana"/>
              </a:rPr>
              <a:t>Saksham Arora</a:t>
            </a:r>
            <a:endParaRPr/>
          </a:p>
        </p:txBody>
      </p:sp>
      <p:sp>
        <p:nvSpPr>
          <p:cNvPr id="90" name="Google Shape;90;p1"/>
          <p:cNvSpPr txBox="1"/>
          <p:nvPr/>
        </p:nvSpPr>
        <p:spPr>
          <a:xfrm>
            <a:off x="530000" y="3750000"/>
            <a:ext cx="5121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33333"/>
                </a:solidFill>
                <a:latin typeface="Verdana"/>
                <a:ea typeface="Verdana"/>
                <a:cs typeface="Verdana"/>
                <a:sym typeface="Verdana"/>
              </a:rPr>
              <a:t>Software Engineer II @ Intuit</a:t>
            </a:r>
            <a:endParaRPr b="1" sz="1200">
              <a:solidFill>
                <a:srgbClr val="333333"/>
              </a:solidFill>
              <a:latin typeface="Verdana"/>
              <a:ea typeface="Verdana"/>
              <a:cs typeface="Verdana"/>
              <a:sym typeface="Verdana"/>
            </a:endParaRPr>
          </a:p>
          <a:p>
            <a:pPr indent="0" lvl="0" marL="0" marR="0" rtl="0" algn="l">
              <a:spcBef>
                <a:spcPts val="0"/>
              </a:spcBef>
              <a:spcAft>
                <a:spcPts val="0"/>
              </a:spcAft>
              <a:buNone/>
            </a:pPr>
            <a:r>
              <a:rPr b="1" lang="en-US" sz="1200">
                <a:solidFill>
                  <a:srgbClr val="333333"/>
                </a:solidFill>
                <a:latin typeface="Verdana"/>
                <a:ea typeface="Verdana"/>
                <a:cs typeface="Verdana"/>
                <a:sym typeface="Verdana"/>
              </a:rPr>
              <a:t>Ex - Software Engineer @ Microsoft</a:t>
            </a:r>
            <a:endParaRPr b="1" sz="1200">
              <a:solidFill>
                <a:srgbClr val="333333"/>
              </a:solidFill>
              <a:latin typeface="Verdana"/>
              <a:ea typeface="Verdana"/>
              <a:cs typeface="Verdana"/>
              <a:sym typeface="Verdana"/>
            </a:endParaRPr>
          </a:p>
          <a:p>
            <a:pPr indent="0" lvl="0" marL="0" marR="0" rtl="0" algn="l">
              <a:spcBef>
                <a:spcPts val="0"/>
              </a:spcBef>
              <a:spcAft>
                <a:spcPts val="0"/>
              </a:spcAft>
              <a:buNone/>
            </a:pPr>
            <a:r>
              <a:rPr b="1" lang="en-US" sz="1200" u="sng">
                <a:solidFill>
                  <a:schemeClr val="hlink"/>
                </a:solidFill>
                <a:latin typeface="Verdana"/>
                <a:ea typeface="Verdana"/>
                <a:cs typeface="Verdana"/>
                <a:sym typeface="Verdana"/>
                <a:hlinkClick r:id="rId3"/>
              </a:rPr>
              <a:t>https://www.linkedin.com/in/sakshamarora9575/</a:t>
            </a:r>
            <a:r>
              <a:rPr b="1" lang="en-US" sz="1200">
                <a:solidFill>
                  <a:srgbClr val="333333"/>
                </a:solidFill>
                <a:latin typeface="Verdana"/>
                <a:ea typeface="Verdana"/>
                <a:cs typeface="Verdana"/>
                <a:sym typeface="Verdana"/>
              </a:rPr>
              <a:t> </a:t>
            </a:r>
            <a:endParaRPr b="1" sz="1200">
              <a:solidFill>
                <a:srgbClr val="333333"/>
              </a:solidFill>
              <a:latin typeface="Verdana"/>
              <a:ea typeface="Verdana"/>
              <a:cs typeface="Verdana"/>
              <a:sym typeface="Verdana"/>
            </a:endParaRPr>
          </a:p>
        </p:txBody>
      </p:sp>
      <p:sp>
        <p:nvSpPr>
          <p:cNvPr id="91" name="Google Shape;91;p1"/>
          <p:cNvSpPr txBox="1"/>
          <p:nvPr/>
        </p:nvSpPr>
        <p:spPr>
          <a:xfrm>
            <a:off x="530000" y="4000000"/>
            <a:ext cx="3999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2"/>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5A98A"/>
                </a:solidFill>
                <a:latin typeface="Helvetica Neue"/>
                <a:ea typeface="Helvetica Neue"/>
                <a:cs typeface="Helvetica Neue"/>
                <a:sym typeface="Helvetica Neue"/>
              </a:rPr>
              <a:t>Before We Start — The Mental Model</a:t>
            </a:r>
            <a:endParaRPr/>
          </a:p>
        </p:txBody>
      </p:sp>
      <p:sp>
        <p:nvSpPr>
          <p:cNvPr id="97" name="Google Shape;97;p2"/>
          <p:cNvSpPr txBox="1"/>
          <p:nvPr/>
        </p:nvSpPr>
        <p:spPr>
          <a:xfrm>
            <a:off x="571500" y="1000000"/>
            <a:ext cx="7996500" cy="3001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We're going to add a new primitive.</a:t>
            </a:r>
            <a:endParaRPr sz="1300">
              <a:latin typeface="Verdana"/>
              <a:ea typeface="Verdana"/>
              <a:cs typeface="Verdana"/>
              <a:sym typeface="Verdana"/>
            </a:endParaRPr>
          </a:p>
          <a:p>
            <a:pPr indent="0" lvl="0" marL="0" marR="0" rtl="0" algn="l">
              <a:spcBef>
                <a:spcPts val="600"/>
              </a:spcBef>
              <a:spcAft>
                <a:spcPts val="0"/>
              </a:spcAft>
              <a:buNone/>
            </a:pPr>
            <a:r>
              <a:t/>
            </a:r>
            <a:endParaRPr sz="1200">
              <a:solidFill>
                <a:srgbClr val="444444"/>
              </a:solidFill>
              <a:latin typeface="Verdana"/>
              <a:ea typeface="Verdana"/>
              <a:cs typeface="Verdana"/>
              <a:sym typeface="Verdana"/>
            </a:endParaRPr>
          </a:p>
          <a:p>
            <a:pPr indent="-311150" lvl="0" marL="457200" marR="0" rtl="0" algn="l">
              <a:spcBef>
                <a:spcPts val="600"/>
              </a:spcBef>
              <a:spcAft>
                <a:spcPts val="0"/>
              </a:spcAft>
              <a:buClr>
                <a:srgbClr val="333333"/>
              </a:buClr>
              <a:buSzPts val="1300"/>
              <a:buFont typeface="Verdana"/>
              <a:buChar char="-"/>
            </a:pPr>
            <a:r>
              <a:rPr b="1" lang="en-US" sz="1300">
                <a:solidFill>
                  <a:srgbClr val="333333"/>
                </a:solidFill>
                <a:latin typeface="Verdana"/>
                <a:ea typeface="Verdana"/>
                <a:cs typeface="Verdana"/>
                <a:sym typeface="Verdana"/>
              </a:rPr>
              <a:t>No prior AI/ML background required.</a:t>
            </a:r>
            <a:endParaRPr b="1" sz="13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You open your laptop, type a problem you’ve been stuck on, and hit Enter.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Almost instantly, the AI replies with working code, a clean explanation, and even suggestions you hadn’t considered.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For a moment, it feels like there’s another engineer helping you think. But there isn’t. There’s no understanding of the problem, no awareness of the goal, no real “thinking” happening at all. So how can something that doesn’t understand anything still be so useful - and sometimes so convincing?</a:t>
            </a:r>
            <a:endParaRPr b="1" sz="1300">
              <a:solidFill>
                <a:srgbClr val="333333"/>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4"/>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What Is Generative AI?</a:t>
            </a:r>
            <a:endParaRPr/>
          </a:p>
        </p:txBody>
      </p:sp>
      <p:sp>
        <p:nvSpPr>
          <p:cNvPr id="103" name="Google Shape;103;p4"/>
          <p:cNvSpPr txBox="1"/>
          <p:nvPr/>
        </p:nvSpPr>
        <p:spPr>
          <a:xfrm>
            <a:off x="571500" y="1050000"/>
            <a:ext cx="8000100" cy="326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444444"/>
                </a:solidFill>
                <a:latin typeface="Verdana"/>
                <a:ea typeface="Verdana"/>
                <a:cs typeface="Verdana"/>
                <a:sym typeface="Verdana"/>
              </a:rPr>
              <a:t>AI that produces new content — text, code, images, audio, video —</a:t>
            </a:r>
            <a:endParaRPr/>
          </a:p>
          <a:p>
            <a:pPr indent="0" lvl="0" marL="0" marR="0" rtl="0" algn="l">
              <a:spcBef>
                <a:spcPts val="400"/>
              </a:spcBef>
              <a:spcAft>
                <a:spcPts val="0"/>
              </a:spcAft>
              <a:buNone/>
            </a:pPr>
            <a:r>
              <a:rPr b="0" lang="en-US" sz="1400">
                <a:solidFill>
                  <a:srgbClr val="444444"/>
                </a:solidFill>
                <a:latin typeface="Verdana"/>
                <a:ea typeface="Verdana"/>
                <a:cs typeface="Verdana"/>
                <a:sym typeface="Verdana"/>
              </a:rPr>
              <a:t>rather than just classifying or predicting from existing options.</a:t>
            </a:r>
            <a:endParaRPr/>
          </a:p>
          <a:p>
            <a:pPr indent="0" lvl="0" marL="0" marR="0" rtl="0" algn="l">
              <a:spcBef>
                <a:spcPts val="400"/>
              </a:spcBef>
              <a:spcAft>
                <a:spcPts val="0"/>
              </a:spcAft>
              <a:buNone/>
            </a:pPr>
            <a:r>
              <a:t/>
            </a:r>
            <a:endParaRPr b="0" sz="14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400">
                <a:solidFill>
                  <a:srgbClr val="05A98A"/>
                </a:solidFill>
                <a:latin typeface="Verdana"/>
                <a:ea typeface="Verdana"/>
                <a:cs typeface="Verdana"/>
                <a:sym typeface="Verdana"/>
              </a:rPr>
              <a:t>Discriminative models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Given an email, is it spam? (P(class | input))</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Output space is small and known</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400">
                <a:solidFill>
                  <a:srgbClr val="683FBE"/>
                </a:solidFill>
                <a:latin typeface="Verdana"/>
                <a:ea typeface="Verdana"/>
                <a:cs typeface="Verdana"/>
                <a:sym typeface="Verdana"/>
              </a:rPr>
              <a:t>Generative models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Given a prompt, produce a plausible continuation. P(next | history)</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Output space is open-ended (any string of tokens)</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333333"/>
                </a:solidFill>
                <a:latin typeface="Verdana"/>
                <a:ea typeface="Verdana"/>
                <a:cs typeface="Verdana"/>
                <a:sym typeface="Verdana"/>
              </a:rPr>
              <a:t>This course focuses on text/code-generating models — LLMs.</a:t>
            </a:r>
            <a:endParaRPr/>
          </a:p>
          <a:p>
            <a:pPr indent="0" lvl="0" marL="0" marR="0" rtl="0" algn="l">
              <a:spcBef>
                <a:spcPts val="400"/>
              </a:spcBef>
              <a:spcAft>
                <a:spcPts val="0"/>
              </a:spcAft>
              <a:buNone/>
            </a:pPr>
            <a:r>
              <a:rPr b="0" lang="en-US" sz="1100">
                <a:solidFill>
                  <a:srgbClr val="595959"/>
                </a:solidFill>
                <a:latin typeface="Verdana"/>
                <a:ea typeface="Verdana"/>
                <a:cs typeface="Verdana"/>
                <a:sym typeface="Verdana"/>
              </a:rPr>
              <a:t>Same architecture family power</a:t>
            </a:r>
            <a:r>
              <a:rPr lang="en-US" sz="1100">
                <a:solidFill>
                  <a:srgbClr val="595959"/>
                </a:solidFill>
                <a:latin typeface="Verdana"/>
                <a:ea typeface="Verdana"/>
                <a:cs typeface="Verdana"/>
                <a:sym typeface="Verdana"/>
              </a:rPr>
              <a:t>s</a:t>
            </a:r>
            <a:r>
              <a:rPr b="0" lang="en-US" sz="1100">
                <a:solidFill>
                  <a:srgbClr val="595959"/>
                </a:solidFill>
                <a:latin typeface="Verdana"/>
                <a:ea typeface="Verdana"/>
                <a:cs typeface="Verdana"/>
                <a:sym typeface="Verdana"/>
              </a:rPr>
              <a:t> Sora, MusicGen, etc.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g3ee01d3d70f_0_3"/>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LLM</a:t>
            </a:r>
            <a:endParaRPr sz="2900">
              <a:latin typeface="Plus Jakarta Sans ExtraBold"/>
              <a:ea typeface="Plus Jakarta Sans ExtraBold"/>
              <a:cs typeface="Plus Jakarta Sans ExtraBold"/>
              <a:sym typeface="Plus Jakarta Sans ExtraBold"/>
            </a:endParaRPr>
          </a:p>
        </p:txBody>
      </p:sp>
      <p:sp>
        <p:nvSpPr>
          <p:cNvPr id="110" name="Google Shape;110;g3ee01d3d70f_0_3"/>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 name="Google Shape;111;g3ee01d3d70f_0_3" title="Screenshot 2025-11-30 at 3.40.53 AM.png"/>
          <p:cNvPicPr preferRelativeResize="0"/>
          <p:nvPr/>
        </p:nvPicPr>
        <p:blipFill>
          <a:blip r:embed="rId4">
            <a:alphaModFix/>
          </a:blip>
          <a:stretch>
            <a:fillRect/>
          </a:stretch>
        </p:blipFill>
        <p:spPr>
          <a:xfrm>
            <a:off x="471500" y="990450"/>
            <a:ext cx="5584517" cy="3848250"/>
          </a:xfrm>
          <a:prstGeom prst="rect">
            <a:avLst/>
          </a:prstGeom>
          <a:noFill/>
          <a:ln>
            <a:noFill/>
          </a:ln>
        </p:spPr>
      </p:pic>
      <p:sp>
        <p:nvSpPr>
          <p:cNvPr id="112" name="Google Shape;112;g3ee01d3d70f_0_3"/>
          <p:cNvSpPr txBox="1"/>
          <p:nvPr/>
        </p:nvSpPr>
        <p:spPr>
          <a:xfrm>
            <a:off x="6255825" y="990450"/>
            <a:ext cx="2634900" cy="38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Roboto"/>
                <a:ea typeface="Roboto"/>
                <a:cs typeface="Roboto"/>
                <a:sym typeface="Roboto"/>
              </a:rPr>
              <a:t>LLMs (Large Language Models) are powerful AI programs that learn from huge amounts of text so they can understand and generate human-like language.</a:t>
            </a:r>
            <a:endParaRPr sz="2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db939b1e25_0_113" title="Screenshot 2026-05-02 at 11.36.35.png"/>
          <p:cNvPicPr preferRelativeResize="0"/>
          <p:nvPr/>
        </p:nvPicPr>
        <p:blipFill>
          <a:blip r:embed="rId3">
            <a:alphaModFix/>
          </a:blip>
          <a:stretch>
            <a:fillRect/>
          </a:stretch>
        </p:blipFill>
        <p:spPr>
          <a:xfrm>
            <a:off x="546850" y="152400"/>
            <a:ext cx="7744625"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6"/>
          <p:cNvSpPr txBox="1"/>
          <p:nvPr/>
        </p:nvSpPr>
        <p:spPr>
          <a:xfrm>
            <a:off x="497075" y="817650"/>
            <a:ext cx="8000100" cy="4098000"/>
          </a:xfrm>
          <a:prstGeom prst="rect">
            <a:avLst/>
          </a:prstGeom>
          <a:noFill/>
          <a:ln>
            <a:noFill/>
          </a:ln>
        </p:spPr>
        <p:txBody>
          <a:bodyPr anchorCtr="0" anchor="t" bIns="45700" lIns="91425" spcFirstLastPara="1" rIns="91425" wrap="square" tIns="45700">
            <a:spAutoFit/>
          </a:bodyPr>
          <a:lstStyle/>
          <a:p>
            <a:pPr indent="0" lvl="0" marL="0" marR="0" rtl="0" algn="l">
              <a:spcBef>
                <a:spcPts val="400"/>
              </a:spcBef>
              <a:spcAft>
                <a:spcPts val="0"/>
              </a:spcAft>
              <a:buNone/>
            </a:pPr>
            <a:r>
              <a:rPr b="1" lang="en-US" sz="1300">
                <a:solidFill>
                  <a:srgbClr val="333333"/>
                </a:solidFill>
                <a:latin typeface="Verdana"/>
                <a:ea typeface="Verdana"/>
                <a:cs typeface="Verdana"/>
                <a:sym typeface="Verdana"/>
              </a:rPr>
              <a:t>Think of a large language model like a very big, very fast autocomplete system.</a:t>
            </a:r>
            <a:endParaRPr b="1" sz="1300">
              <a:solidFill>
                <a:srgbClr val="333333"/>
              </a:solidFill>
              <a:latin typeface="Verdana"/>
              <a:ea typeface="Verdana"/>
              <a:cs typeface="Verdana"/>
              <a:sym typeface="Verdana"/>
            </a:endParaRPr>
          </a:p>
          <a:p>
            <a:pPr indent="0" lvl="0" marL="0" rtl="0" algn="l">
              <a:lnSpc>
                <a:spcPct val="115000"/>
              </a:lnSpc>
              <a:spcBef>
                <a:spcPts val="1200"/>
              </a:spcBef>
              <a:spcAft>
                <a:spcPts val="0"/>
              </a:spcAft>
              <a:buClr>
                <a:schemeClr val="dk1"/>
              </a:buClr>
              <a:buSzPts val="1100"/>
              <a:buFont typeface="Arial"/>
              <a:buNone/>
            </a:pPr>
            <a:r>
              <a:rPr b="1" lang="en-US" sz="1300">
                <a:solidFill>
                  <a:srgbClr val="333333"/>
                </a:solidFill>
                <a:latin typeface="Verdana"/>
                <a:ea typeface="Verdana"/>
                <a:cs typeface="Verdana"/>
                <a:sym typeface="Verdana"/>
              </a:rPr>
              <a:t>You give it some text, and it tries to guess what comes next — one piece (token) at a time.</a:t>
            </a:r>
            <a:endParaRPr b="1" sz="1300">
              <a:solidFill>
                <a:srgbClr val="333333"/>
              </a:solidFill>
              <a:latin typeface="Verdana"/>
              <a:ea typeface="Verdana"/>
              <a:cs typeface="Verdana"/>
              <a:sym typeface="Verdana"/>
            </a:endParaRPr>
          </a:p>
          <a:p>
            <a:pPr indent="0" lvl="0" marL="0" marR="0" rtl="0" algn="l">
              <a:spcBef>
                <a:spcPts val="1200"/>
              </a:spcBef>
              <a:spcAft>
                <a:spcPts val="0"/>
              </a:spcAft>
              <a:buNone/>
            </a:pPr>
            <a:r>
              <a:rPr b="1" lang="en-US" sz="1200">
                <a:solidFill>
                  <a:srgbClr val="05A98A"/>
                </a:solidFill>
                <a:latin typeface="Verdana"/>
                <a:ea typeface="Verdana"/>
                <a:cs typeface="Verdana"/>
                <a:sym typeface="Verdana"/>
              </a:rPr>
              <a:t>Simple flow</a:t>
            </a:r>
            <a:r>
              <a:rPr b="1" lang="en-US" sz="1200">
                <a:solidFill>
                  <a:srgbClr val="05A98A"/>
                </a:solidFill>
                <a:latin typeface="Verdana"/>
                <a:ea typeface="Verdana"/>
                <a:cs typeface="Verdana"/>
                <a:sym typeface="Verdana"/>
              </a:rPr>
              <a:t>:</a:t>
            </a:r>
            <a:endParaRPr sz="1300"/>
          </a:p>
          <a:p>
            <a:pPr indent="-292100" lvl="0" marL="457200" marR="0" rtl="0" algn="l">
              <a:spcBef>
                <a:spcPts val="400"/>
              </a:spcBef>
              <a:spcAft>
                <a:spcPts val="0"/>
              </a:spcAft>
              <a:buClr>
                <a:srgbClr val="444444"/>
              </a:buClr>
              <a:buSzPts val="1000"/>
              <a:buFont typeface="Verdana"/>
              <a:buAutoNum type="arabicPeriod"/>
            </a:pPr>
            <a:r>
              <a:rPr lang="en-US" sz="1000">
                <a:solidFill>
                  <a:srgbClr val="444444"/>
                </a:solidFill>
                <a:latin typeface="Verdana"/>
                <a:ea typeface="Verdana"/>
                <a:cs typeface="Verdana"/>
                <a:sym typeface="Verdana"/>
              </a:rPr>
              <a:t>Your text → turned into numbers (tokens)</a:t>
            </a:r>
            <a:endParaRPr sz="1000">
              <a:solidFill>
                <a:srgbClr val="444444"/>
              </a:solidFill>
              <a:latin typeface="Verdana"/>
              <a:ea typeface="Verdana"/>
              <a:cs typeface="Verdana"/>
              <a:sym typeface="Verdana"/>
            </a:endParaRPr>
          </a:p>
          <a:p>
            <a:pPr indent="-292100" lvl="0" marL="457200" rtl="0" algn="l">
              <a:spcBef>
                <a:spcPts val="0"/>
              </a:spcBef>
              <a:spcAft>
                <a:spcPts val="0"/>
              </a:spcAft>
              <a:buClr>
                <a:srgbClr val="444444"/>
              </a:buClr>
              <a:buSzPts val="1000"/>
              <a:buFont typeface="Verdana"/>
              <a:buAutoNum type="arabicPeriod"/>
            </a:pPr>
            <a:r>
              <a:rPr lang="en-US" sz="1000">
                <a:solidFill>
                  <a:srgbClr val="444444"/>
                </a:solidFill>
                <a:latin typeface="Verdana"/>
                <a:ea typeface="Verdana"/>
                <a:cs typeface="Verdana"/>
                <a:sym typeface="Verdana"/>
              </a:rPr>
              <a:t>Those numbers → turned into vectors (embeddings)</a:t>
            </a:r>
            <a:endParaRPr sz="1000">
              <a:solidFill>
                <a:srgbClr val="444444"/>
              </a:solidFill>
              <a:latin typeface="Verdana"/>
              <a:ea typeface="Verdana"/>
              <a:cs typeface="Verdana"/>
              <a:sym typeface="Verdana"/>
            </a:endParaRPr>
          </a:p>
          <a:p>
            <a:pPr indent="-292100" lvl="0" marL="457200" rtl="0" algn="l">
              <a:spcBef>
                <a:spcPts val="0"/>
              </a:spcBef>
              <a:spcAft>
                <a:spcPts val="0"/>
              </a:spcAft>
              <a:buClr>
                <a:srgbClr val="444444"/>
              </a:buClr>
              <a:buSzPts val="1000"/>
              <a:buFont typeface="Verdana"/>
              <a:buAutoNum type="arabicPeriod"/>
            </a:pPr>
            <a:r>
              <a:rPr lang="en-US" sz="1000">
                <a:solidFill>
                  <a:srgbClr val="444444"/>
                </a:solidFill>
                <a:latin typeface="Verdana"/>
                <a:ea typeface="Verdana"/>
                <a:cs typeface="Verdana"/>
                <a:sym typeface="Verdana"/>
              </a:rPr>
              <a:t>Passed through many layers (transformer blocks)</a:t>
            </a:r>
            <a:endParaRPr sz="1000">
              <a:solidFill>
                <a:srgbClr val="444444"/>
              </a:solidFill>
              <a:latin typeface="Verdana"/>
              <a:ea typeface="Verdana"/>
              <a:cs typeface="Verdana"/>
              <a:sym typeface="Verdana"/>
            </a:endParaRPr>
          </a:p>
          <a:p>
            <a:pPr indent="-292100" lvl="0" marL="457200" rtl="0" algn="l">
              <a:spcBef>
                <a:spcPts val="0"/>
              </a:spcBef>
              <a:spcAft>
                <a:spcPts val="0"/>
              </a:spcAft>
              <a:buClr>
                <a:srgbClr val="444444"/>
              </a:buClr>
              <a:buSzPts val="1000"/>
              <a:buFont typeface="Verdana"/>
              <a:buAutoNum type="arabicPeriod"/>
            </a:pPr>
            <a:r>
              <a:rPr lang="en-US" sz="1000">
                <a:solidFill>
                  <a:srgbClr val="444444"/>
                </a:solidFill>
                <a:latin typeface="Verdana"/>
                <a:ea typeface="Verdana"/>
                <a:cs typeface="Verdana"/>
                <a:sym typeface="Verdana"/>
              </a:rPr>
              <a:t>Output → probabilities for the next word/token</a:t>
            </a:r>
            <a:endParaRPr sz="1000">
              <a:solidFill>
                <a:srgbClr val="444444"/>
              </a:solidFill>
              <a:latin typeface="Verdana"/>
              <a:ea typeface="Verdana"/>
              <a:cs typeface="Verdana"/>
              <a:sym typeface="Verdana"/>
            </a:endParaRPr>
          </a:p>
          <a:p>
            <a:pPr indent="-292100" lvl="0" marL="457200" rtl="0" algn="l">
              <a:spcBef>
                <a:spcPts val="0"/>
              </a:spcBef>
              <a:spcAft>
                <a:spcPts val="0"/>
              </a:spcAft>
              <a:buClr>
                <a:srgbClr val="444444"/>
              </a:buClr>
              <a:buSzPts val="1000"/>
              <a:buFont typeface="Verdana"/>
              <a:buAutoNum type="arabicPeriod"/>
            </a:pPr>
            <a:r>
              <a:rPr lang="en-US" sz="1000">
                <a:solidFill>
                  <a:srgbClr val="444444"/>
                </a:solidFill>
                <a:latin typeface="Verdana"/>
                <a:ea typeface="Verdana"/>
                <a:cs typeface="Verdana"/>
                <a:sym typeface="Verdana"/>
              </a:rPr>
              <a:t>It picks one → and repeats</a:t>
            </a:r>
            <a:endParaRPr sz="1000">
              <a:solidFill>
                <a:srgbClr val="444444"/>
              </a:solidFill>
              <a:latin typeface="Verdana"/>
              <a:ea typeface="Verdana"/>
              <a:cs typeface="Verdana"/>
              <a:sym typeface="Verdana"/>
            </a:endParaRPr>
          </a:p>
          <a:p>
            <a:pPr indent="0" lvl="0" marL="0" rtl="0" algn="l">
              <a:lnSpc>
                <a:spcPct val="115000"/>
              </a:lnSpc>
              <a:spcBef>
                <a:spcPts val="1200"/>
              </a:spcBef>
              <a:spcAft>
                <a:spcPts val="0"/>
              </a:spcAft>
              <a:buNone/>
            </a:pPr>
            <a:r>
              <a:rPr lang="en-US" sz="1000">
                <a:solidFill>
                  <a:schemeClr val="dk1"/>
                </a:solidFill>
                <a:latin typeface="Verdana"/>
                <a:ea typeface="Verdana"/>
                <a:cs typeface="Verdana"/>
                <a:sym typeface="Verdana"/>
              </a:rPr>
              <a:t>Each layer does three main things:</a:t>
            </a:r>
            <a:endParaRPr sz="1000">
              <a:solidFill>
                <a:schemeClr val="dk1"/>
              </a:solidFill>
              <a:latin typeface="Verdana"/>
              <a:ea typeface="Verdana"/>
              <a:cs typeface="Verdana"/>
              <a:sym typeface="Verdana"/>
            </a:endParaRPr>
          </a:p>
          <a:p>
            <a:pPr indent="-292100" lvl="0" marL="457200" rtl="0" algn="l">
              <a:lnSpc>
                <a:spcPct val="115000"/>
              </a:lnSpc>
              <a:spcBef>
                <a:spcPts val="1200"/>
              </a:spcBef>
              <a:spcAft>
                <a:spcPts val="0"/>
              </a:spcAft>
              <a:buClr>
                <a:schemeClr val="dk1"/>
              </a:buClr>
              <a:buSzPts val="1000"/>
              <a:buChar char="●"/>
            </a:pPr>
            <a:r>
              <a:rPr b="1" lang="en-US" sz="1000">
                <a:solidFill>
                  <a:schemeClr val="dk1"/>
                </a:solidFill>
                <a:latin typeface="Verdana"/>
                <a:ea typeface="Verdana"/>
                <a:cs typeface="Verdana"/>
                <a:sym typeface="Verdana"/>
              </a:rPr>
              <a:t>Attention:</a:t>
            </a:r>
            <a:br>
              <a:rPr b="1" lang="en-US" sz="1000">
                <a:solidFill>
                  <a:schemeClr val="dk1"/>
                </a:solidFill>
                <a:latin typeface="Verdana"/>
                <a:ea typeface="Verdana"/>
                <a:cs typeface="Verdana"/>
                <a:sym typeface="Verdana"/>
              </a:rPr>
            </a:br>
            <a:r>
              <a:rPr lang="en-US" sz="1000">
                <a:solidFill>
                  <a:schemeClr val="dk1"/>
                </a:solidFill>
                <a:latin typeface="Verdana"/>
                <a:ea typeface="Verdana"/>
                <a:cs typeface="Verdana"/>
                <a:sym typeface="Verdana"/>
              </a:rPr>
              <a:t> Every word looks at all the other words to understand context</a:t>
            </a:r>
            <a:br>
              <a:rPr lang="en-US" sz="1000">
                <a:solidFill>
                  <a:schemeClr val="dk1"/>
                </a:solidFill>
                <a:latin typeface="Verdana"/>
                <a:ea typeface="Verdana"/>
                <a:cs typeface="Verdana"/>
                <a:sym typeface="Verdana"/>
              </a:rPr>
            </a:br>
            <a:r>
              <a:rPr lang="en-US" sz="1000">
                <a:solidFill>
                  <a:schemeClr val="dk1"/>
                </a:solidFill>
                <a:latin typeface="Verdana"/>
                <a:ea typeface="Verdana"/>
                <a:cs typeface="Verdana"/>
                <a:sym typeface="Verdana"/>
              </a:rPr>
              <a:t> (e.g., “bank” near “river” vs “money”)</a:t>
            </a:r>
            <a:endParaRPr sz="1000">
              <a:solidFill>
                <a:schemeClr val="dk1"/>
              </a:solidFill>
              <a:latin typeface="Verdana"/>
              <a:ea typeface="Verdana"/>
              <a:cs typeface="Verdana"/>
              <a:sym typeface="Verdana"/>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Verdana"/>
                <a:ea typeface="Verdana"/>
                <a:cs typeface="Verdana"/>
                <a:sym typeface="Verdana"/>
              </a:rPr>
              <a:t>Processing (FFN):</a:t>
            </a:r>
            <a:br>
              <a:rPr b="1" lang="en-US" sz="1000">
                <a:solidFill>
                  <a:schemeClr val="dk1"/>
                </a:solidFill>
                <a:latin typeface="Verdana"/>
                <a:ea typeface="Verdana"/>
                <a:cs typeface="Verdana"/>
                <a:sym typeface="Verdana"/>
              </a:rPr>
            </a:br>
            <a:r>
              <a:rPr lang="en-US" sz="1000">
                <a:solidFill>
                  <a:schemeClr val="dk1"/>
                </a:solidFill>
                <a:latin typeface="Verdana"/>
                <a:ea typeface="Verdana"/>
                <a:cs typeface="Verdana"/>
                <a:sym typeface="Verdana"/>
              </a:rPr>
              <a:t> Each word is transformed individually to refine its meaning</a:t>
            </a:r>
            <a:endParaRPr sz="1000">
              <a:solidFill>
                <a:schemeClr val="dk1"/>
              </a:solidFill>
              <a:latin typeface="Verdana"/>
              <a:ea typeface="Verdana"/>
              <a:cs typeface="Verdana"/>
              <a:sym typeface="Verdana"/>
            </a:endParaRPr>
          </a:p>
          <a:p>
            <a:pPr indent="-292100" lvl="0" marL="457200" rtl="0" algn="l">
              <a:lnSpc>
                <a:spcPct val="115000"/>
              </a:lnSpc>
              <a:spcBef>
                <a:spcPts val="0"/>
              </a:spcBef>
              <a:spcAft>
                <a:spcPts val="0"/>
              </a:spcAft>
              <a:buClr>
                <a:schemeClr val="dk1"/>
              </a:buClr>
              <a:buSzPts val="1000"/>
              <a:buChar char="●"/>
            </a:pPr>
            <a:r>
              <a:rPr b="1" lang="en-US" sz="1000">
                <a:solidFill>
                  <a:schemeClr val="dk1"/>
                </a:solidFill>
                <a:latin typeface="Verdana"/>
                <a:ea typeface="Verdana"/>
                <a:cs typeface="Verdana"/>
                <a:sym typeface="Verdana"/>
              </a:rPr>
              <a:t>Stability helpers:</a:t>
            </a:r>
            <a:br>
              <a:rPr b="1" lang="en-US" sz="1000">
                <a:solidFill>
                  <a:schemeClr val="dk1"/>
                </a:solidFill>
                <a:latin typeface="Verdana"/>
                <a:ea typeface="Verdana"/>
                <a:cs typeface="Verdana"/>
                <a:sym typeface="Verdana"/>
              </a:rPr>
            </a:br>
            <a:r>
              <a:rPr lang="en-US" sz="1000">
                <a:solidFill>
                  <a:schemeClr val="dk1"/>
                </a:solidFill>
                <a:latin typeface="Verdana"/>
                <a:ea typeface="Verdana"/>
                <a:cs typeface="Verdana"/>
                <a:sym typeface="Verdana"/>
              </a:rPr>
              <a:t> Small tweaks (residuals + normalization) keep learning stable</a:t>
            </a:r>
            <a:endParaRPr sz="1000">
              <a:solidFill>
                <a:schemeClr val="dk1"/>
              </a:solidFill>
              <a:latin typeface="Verdana"/>
              <a:ea typeface="Verdana"/>
              <a:cs typeface="Verdana"/>
              <a:sym typeface="Verdana"/>
            </a:endParaRPr>
          </a:p>
          <a:p>
            <a:pPr indent="0" lvl="0" marL="0" rtl="0" algn="l">
              <a:spcBef>
                <a:spcPts val="1200"/>
              </a:spcBef>
              <a:spcAft>
                <a:spcPts val="0"/>
              </a:spcAft>
              <a:buNone/>
            </a:pPr>
            <a:r>
              <a:t/>
            </a:r>
            <a:endParaRPr sz="1000">
              <a:solidFill>
                <a:srgbClr val="444444"/>
              </a:solidFill>
              <a:latin typeface="Verdana"/>
              <a:ea typeface="Verdana"/>
              <a:cs typeface="Verdana"/>
              <a:sym typeface="Verdana"/>
            </a:endParaRPr>
          </a:p>
        </p:txBody>
      </p:sp>
      <p:sp>
        <p:nvSpPr>
          <p:cNvPr id="123" name="Google Shape;123;p6"/>
          <p:cNvSpPr txBox="1"/>
          <p:nvPr/>
        </p:nvSpPr>
        <p:spPr>
          <a:xfrm>
            <a:off x="457200" y="16905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Anatomy of an LLM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g3ee01d3d70f_0_61"/>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How prompting works ?</a:t>
            </a:r>
            <a:endParaRPr sz="2900">
              <a:latin typeface="Plus Jakarta Sans ExtraBold"/>
              <a:ea typeface="Plus Jakarta Sans ExtraBold"/>
              <a:cs typeface="Plus Jakarta Sans ExtraBold"/>
              <a:sym typeface="Plus Jakarta Sans ExtraBold"/>
            </a:endParaRPr>
          </a:p>
        </p:txBody>
      </p:sp>
      <p:pic>
        <p:nvPicPr>
          <p:cNvPr id="130" name="Google Shape;130;g3ee01d3d70f_0_61" title="Screenshot 2025-11-30 at 3.50.53 AM.png"/>
          <p:cNvPicPr preferRelativeResize="0"/>
          <p:nvPr/>
        </p:nvPicPr>
        <p:blipFill>
          <a:blip r:embed="rId4">
            <a:alphaModFix/>
          </a:blip>
          <a:stretch>
            <a:fillRect/>
          </a:stretch>
        </p:blipFill>
        <p:spPr>
          <a:xfrm>
            <a:off x="471500" y="990450"/>
            <a:ext cx="5915310" cy="3848250"/>
          </a:xfrm>
          <a:prstGeom prst="rect">
            <a:avLst/>
          </a:prstGeom>
          <a:noFill/>
          <a:ln>
            <a:noFill/>
          </a:ln>
        </p:spPr>
      </p:pic>
      <p:sp>
        <p:nvSpPr>
          <p:cNvPr id="131" name="Google Shape;131;g3ee01d3d70f_0_61"/>
          <p:cNvSpPr/>
          <p:nvPr/>
        </p:nvSpPr>
        <p:spPr>
          <a:xfrm>
            <a:off x="7765475" y="4599700"/>
            <a:ext cx="1163700" cy="37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g3ee01d3d70f_0_68"/>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Famous LLMs</a:t>
            </a:r>
            <a:endParaRPr sz="2900">
              <a:latin typeface="Plus Jakarta Sans ExtraBold"/>
              <a:ea typeface="Plus Jakarta Sans ExtraBold"/>
              <a:cs typeface="Plus Jakarta Sans ExtraBold"/>
              <a:sym typeface="Plus Jakarta Sans ExtraBold"/>
            </a:endParaRPr>
          </a:p>
        </p:txBody>
      </p:sp>
      <p:sp>
        <p:nvSpPr>
          <p:cNvPr id="138" name="Google Shape;138;g3ee01d3d70f_0_68"/>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9" name="Google Shape;139;g3ee01d3d70f_0_68" title="Screenshot 2025-11-30 at 3.36.33 AM.png"/>
          <p:cNvPicPr preferRelativeResize="0"/>
          <p:nvPr/>
        </p:nvPicPr>
        <p:blipFill>
          <a:blip r:embed="rId4">
            <a:alphaModFix/>
          </a:blip>
          <a:stretch>
            <a:fillRect/>
          </a:stretch>
        </p:blipFill>
        <p:spPr>
          <a:xfrm>
            <a:off x="471500" y="990449"/>
            <a:ext cx="7747850" cy="3836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7"/>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Tokens — The Atomic Unit</a:t>
            </a:r>
            <a:endParaRPr/>
          </a:p>
        </p:txBody>
      </p:sp>
      <p:sp>
        <p:nvSpPr>
          <p:cNvPr id="145" name="Google Shape;145;p7"/>
          <p:cNvSpPr txBox="1"/>
          <p:nvPr/>
        </p:nvSpPr>
        <p:spPr>
          <a:xfrm>
            <a:off x="571500" y="1000000"/>
            <a:ext cx="8000100" cy="380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44444"/>
                </a:solidFill>
                <a:latin typeface="Verdana"/>
                <a:ea typeface="Verdana"/>
                <a:cs typeface="Verdana"/>
                <a:sym typeface="Verdana"/>
              </a:rPr>
              <a:t>LLMs don't see characters or words. They see tokens.</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400">
                <a:solidFill>
                  <a:srgbClr val="333333"/>
                </a:solidFill>
                <a:latin typeface="Verdana"/>
                <a:ea typeface="Verdana"/>
                <a:cs typeface="Verdana"/>
                <a:sym typeface="Verdana"/>
              </a:rPr>
              <a:t>A token is a sub-word chunk learned by a tokenizer.</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"engineering"  →  ["engineer", "ing"]</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a:t>
            </a:r>
            <a:r>
              <a:rPr lang="en-US" sz="1300">
                <a:solidFill>
                  <a:srgbClr val="444444"/>
                </a:solidFill>
                <a:latin typeface="Verdana"/>
                <a:ea typeface="Verdana"/>
                <a:cs typeface="Verdana"/>
                <a:sym typeface="Verdana"/>
              </a:rPr>
              <a:t>supercalifragilistic</a:t>
            </a:r>
            <a:r>
              <a:rPr lang="en-US" sz="1300">
                <a:solidFill>
                  <a:srgbClr val="444444"/>
                </a:solidFill>
                <a:latin typeface="Verdana"/>
                <a:ea typeface="Verdana"/>
                <a:cs typeface="Verdana"/>
                <a:sym typeface="Verdana"/>
              </a:rPr>
              <a:t>"  →  ["super", "cal", "if", "rag", "ilist", "ic"]</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Common words = 1 token, rare words = many tokens</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400">
                <a:solidFill>
                  <a:srgbClr val="333333"/>
                </a:solidFill>
                <a:latin typeface="Verdana"/>
                <a:ea typeface="Verdana"/>
                <a:cs typeface="Verdana"/>
                <a:sym typeface="Verdana"/>
              </a:rPr>
              <a:t>Why this matters:</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Cost is per-token (input + output) — not per character or per call</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Context window is in tokens — ~4 chars/token for English, less for code/non-English</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**Rule of thumb:** 1000 tokens ≈ 750 English words ≈ 4KB of text.</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Try it: </a:t>
            </a:r>
            <a:r>
              <a:rPr lang="en-US" sz="1300" u="sng">
                <a:solidFill>
                  <a:schemeClr val="hlink"/>
                </a:solidFill>
                <a:latin typeface="Verdana"/>
                <a:ea typeface="Verdana"/>
                <a:cs typeface="Verdana"/>
                <a:sym typeface="Verdana"/>
                <a:hlinkClick r:id="rId3"/>
              </a:rPr>
              <a:t>platform.openai.com/tokenizer</a:t>
            </a:r>
            <a:r>
              <a:rPr lang="en-US" sz="1300">
                <a:solidFill>
                  <a:srgbClr val="444444"/>
                </a:solidFill>
                <a:latin typeface="Verdana"/>
                <a:ea typeface="Verdana"/>
                <a:cs typeface="Verdana"/>
                <a:sym typeface="Verdana"/>
              </a:rPr>
              <a:t>  or  tiktoken Python library.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8"/>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How LLMs Are Trained — Three Stages</a:t>
            </a:r>
            <a:endParaRPr/>
          </a:p>
        </p:txBody>
      </p:sp>
      <p:sp>
        <p:nvSpPr>
          <p:cNvPr id="151" name="Google Shape;151;p8"/>
          <p:cNvSpPr txBox="1"/>
          <p:nvPr/>
        </p:nvSpPr>
        <p:spPr>
          <a:xfrm>
            <a:off x="350000" y="950000"/>
            <a:ext cx="275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5A98A"/>
                </a:solidFill>
                <a:latin typeface="Helvetica Neue"/>
                <a:ea typeface="Helvetica Neue"/>
                <a:cs typeface="Helvetica Neue"/>
                <a:sym typeface="Helvetica Neue"/>
              </a:rPr>
              <a:t>1. Pretraining</a:t>
            </a:r>
            <a:endParaRPr/>
          </a:p>
        </p:txBody>
      </p:sp>
      <p:sp>
        <p:nvSpPr>
          <p:cNvPr id="152" name="Google Shape;152;p8"/>
          <p:cNvSpPr txBox="1"/>
          <p:nvPr/>
        </p:nvSpPr>
        <p:spPr>
          <a:xfrm>
            <a:off x="350000" y="1350000"/>
            <a:ext cx="2750100" cy="32478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The model reads huge amounts of text (internet, books, code)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Its job is simple: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guess the next word/token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How it learns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No humans labeling data</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 “correct answer” is just the next word in the text</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is called self-learning from data</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Cost</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Extremely expensive: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$10M–$100M+</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Runs for weeks on thousands of GPUs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From this we get BASE MODEL</a:t>
            </a:r>
            <a:endParaRPr sz="1000">
              <a:solidFill>
                <a:srgbClr val="444444"/>
              </a:solidFill>
              <a:latin typeface="Verdana"/>
              <a:ea typeface="Verdana"/>
              <a:cs typeface="Verdana"/>
              <a:sym typeface="Verdana"/>
            </a:endParaRPr>
          </a:p>
        </p:txBody>
      </p:sp>
      <p:sp>
        <p:nvSpPr>
          <p:cNvPr id="153" name="Google Shape;153;p8"/>
          <p:cNvSpPr txBox="1"/>
          <p:nvPr/>
        </p:nvSpPr>
        <p:spPr>
          <a:xfrm>
            <a:off x="3250000" y="950000"/>
            <a:ext cx="275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683FBE"/>
                </a:solidFill>
                <a:latin typeface="Helvetica Neue"/>
                <a:ea typeface="Helvetica Neue"/>
                <a:cs typeface="Helvetica Neue"/>
                <a:sym typeface="Helvetica Neue"/>
              </a:rPr>
              <a:t>2. Supervised Fine-Tuning (SFT)</a:t>
            </a:r>
            <a:endParaRPr/>
          </a:p>
        </p:txBody>
      </p:sp>
      <p:sp>
        <p:nvSpPr>
          <p:cNvPr id="154" name="Google Shape;154;p8"/>
          <p:cNvSpPr txBox="1"/>
          <p:nvPr/>
        </p:nvSpPr>
        <p:spPr>
          <a:xfrm>
            <a:off x="3250000" y="1454225"/>
            <a:ext cx="27501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The model is trained on good examples made by humans: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An instruction (question/task)</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 high-quality answer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What does it learn?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It learns how to respond properly, like: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Answer questions clearly</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Follow instructions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Refuse unsafe or harmful requests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Why it’s useful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Teaches the model the right style and format of answers</a:t>
            </a:r>
            <a:endParaRPr sz="1000">
              <a:solidFill>
                <a:srgbClr val="444444"/>
              </a:solidFill>
              <a:latin typeface="Verdana"/>
              <a:ea typeface="Verdana"/>
              <a:cs typeface="Verdana"/>
              <a:sym typeface="Verdana"/>
            </a:endParaRPr>
          </a:p>
        </p:txBody>
      </p:sp>
      <p:sp>
        <p:nvSpPr>
          <p:cNvPr id="155" name="Google Shape;155;p8"/>
          <p:cNvSpPr txBox="1"/>
          <p:nvPr/>
        </p:nvSpPr>
        <p:spPr>
          <a:xfrm>
            <a:off x="6150000" y="950000"/>
            <a:ext cx="2750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D46B08"/>
                </a:solidFill>
                <a:latin typeface="Helvetica Neue"/>
                <a:ea typeface="Helvetica Neue"/>
                <a:cs typeface="Helvetica Neue"/>
                <a:sym typeface="Helvetica Neue"/>
              </a:rPr>
              <a:t>3. Preference Tuning</a:t>
            </a:r>
            <a:endParaRPr/>
          </a:p>
        </p:txBody>
      </p:sp>
      <p:sp>
        <p:nvSpPr>
          <p:cNvPr id="156" name="Google Shape;156;p8"/>
          <p:cNvSpPr txBox="1"/>
          <p:nvPr/>
        </p:nvSpPr>
        <p:spPr>
          <a:xfrm>
            <a:off x="6150000" y="1350000"/>
            <a:ext cx="2750100" cy="32991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Preference training (simple explanation)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Humans are shown two answers from the model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They pick which one is better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teaches the system what people prefer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Then what happens?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 separate model learns: “what kind of answers humans like” (reward model)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 main LLM is trained to give more of those good answers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is what made ChatGPT feel different from GPT-3</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 not just completing text, but actually responding like a helpful assistant.</a:t>
            </a:r>
            <a:endParaRPr sz="1000">
              <a:solidFill>
                <a:srgbClr val="444444"/>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0"/>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What Modern LLMs Are Genuinely Good At</a:t>
            </a:r>
            <a:endParaRPr/>
          </a:p>
        </p:txBody>
      </p:sp>
      <p:sp>
        <p:nvSpPr>
          <p:cNvPr id="162" name="Google Shape;162;p10"/>
          <p:cNvSpPr txBox="1"/>
          <p:nvPr/>
        </p:nvSpPr>
        <p:spPr>
          <a:xfrm>
            <a:off x="457200" y="950000"/>
            <a:ext cx="3800000" cy="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5A98A"/>
                </a:solidFill>
                <a:latin typeface="Verdana"/>
                <a:ea typeface="Verdana"/>
                <a:cs typeface="Verdana"/>
                <a:sym typeface="Verdana"/>
              </a:rPr>
              <a:t>Strong</a:t>
            </a:r>
            <a:endParaRPr/>
          </a:p>
        </p:txBody>
      </p:sp>
      <p:sp>
        <p:nvSpPr>
          <p:cNvPr id="163" name="Google Shape;163;p10"/>
          <p:cNvSpPr txBox="1"/>
          <p:nvPr/>
        </p:nvSpPr>
        <p:spPr>
          <a:xfrm>
            <a:off x="457200" y="1350000"/>
            <a:ext cx="3800000" cy="3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 Summarization &amp; rewriting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Translation, tone shifts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Code generation &amp; review</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Structured extraction (JSON,</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classification, NER)</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Following long, detailed</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instructions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Tool/function calling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Multi-step planning when</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scaffolded properly</a:t>
            </a:r>
            <a:endParaRPr/>
          </a:p>
        </p:txBody>
      </p:sp>
      <p:sp>
        <p:nvSpPr>
          <p:cNvPr id="164" name="Google Shape;164;p10"/>
          <p:cNvSpPr txBox="1"/>
          <p:nvPr/>
        </p:nvSpPr>
        <p:spPr>
          <a:xfrm>
            <a:off x="4800000" y="950000"/>
            <a:ext cx="3800000" cy="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683FBE"/>
                </a:solidFill>
                <a:latin typeface="Verdana"/>
                <a:ea typeface="Verdana"/>
                <a:cs typeface="Verdana"/>
                <a:sym typeface="Verdana"/>
              </a:rPr>
              <a:t>Surprisingly Weak (without help)</a:t>
            </a:r>
            <a:endParaRPr/>
          </a:p>
        </p:txBody>
      </p:sp>
      <p:sp>
        <p:nvSpPr>
          <p:cNvPr id="165" name="Google Shape;165;p10"/>
          <p:cNvSpPr txBox="1"/>
          <p:nvPr/>
        </p:nvSpPr>
        <p:spPr>
          <a:xfrm>
            <a:off x="4770225" y="1610525"/>
            <a:ext cx="3800100" cy="263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 Exact arithmetic on long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numbers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Counting characters/items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in their own output</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Up-to-date facts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Anything specific to your</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company's data</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Citing real sources (will</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fabricate URLs/cases)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Self-knowing when wrong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g3ee01d3d70f_0_131"/>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FlyGPT</a:t>
            </a:r>
            <a:endParaRPr sz="2900">
              <a:latin typeface="Plus Jakarta Sans ExtraBold"/>
              <a:ea typeface="Plus Jakarta Sans ExtraBold"/>
              <a:cs typeface="Plus Jakarta Sans ExtraBold"/>
              <a:sym typeface="Plus Jakarta Sans ExtraBold"/>
            </a:endParaRPr>
          </a:p>
        </p:txBody>
      </p:sp>
      <p:sp>
        <p:nvSpPr>
          <p:cNvPr id="172" name="Google Shape;172;g3ee01d3d70f_0_131"/>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3" name="Google Shape;173;g3ee01d3d70f_0_131" title="Screenshot 2025-11-30 at 3.54.34 AM.png"/>
          <p:cNvPicPr preferRelativeResize="0"/>
          <p:nvPr/>
        </p:nvPicPr>
        <p:blipFill>
          <a:blip r:embed="rId4">
            <a:alphaModFix/>
          </a:blip>
          <a:stretch>
            <a:fillRect/>
          </a:stretch>
        </p:blipFill>
        <p:spPr>
          <a:xfrm>
            <a:off x="471500" y="990450"/>
            <a:ext cx="7504087" cy="3848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11"/>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Limitations of LLMs — The Six You'll Hit in Production</a:t>
            </a:r>
            <a:endParaRPr/>
          </a:p>
        </p:txBody>
      </p:sp>
      <p:sp>
        <p:nvSpPr>
          <p:cNvPr id="179" name="Google Shape;179;p11"/>
          <p:cNvSpPr txBox="1"/>
          <p:nvPr/>
        </p:nvSpPr>
        <p:spPr>
          <a:xfrm>
            <a:off x="534275" y="914400"/>
            <a:ext cx="8000100" cy="424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①  </a:t>
            </a:r>
            <a:r>
              <a:rPr b="1" lang="en-US" sz="1300">
                <a:solidFill>
                  <a:srgbClr val="444444"/>
                </a:solidFill>
                <a:latin typeface="Verdana"/>
                <a:ea typeface="Verdana"/>
                <a:cs typeface="Verdana"/>
                <a:sym typeface="Verdana"/>
              </a:rPr>
              <a:t>Hallucination</a:t>
            </a:r>
            <a:r>
              <a:rPr lang="en-US" sz="1300">
                <a:solidFill>
                  <a:srgbClr val="444444"/>
                </a:solidFill>
                <a:latin typeface="Verdana"/>
                <a:ea typeface="Verdana"/>
                <a:cs typeface="Verdana"/>
                <a:sym typeface="Verdana"/>
              </a:rPr>
              <a:t> — confident, fluent, wrong</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②  </a:t>
            </a:r>
            <a:r>
              <a:rPr b="1" lang="en-US" sz="1300">
                <a:solidFill>
                  <a:srgbClr val="444444"/>
                </a:solidFill>
                <a:latin typeface="Verdana"/>
                <a:ea typeface="Verdana"/>
                <a:cs typeface="Verdana"/>
                <a:sym typeface="Verdana"/>
              </a:rPr>
              <a:t>Knowledge cutoff</a:t>
            </a:r>
            <a:r>
              <a:rPr lang="en-US" sz="1300">
                <a:solidFill>
                  <a:srgbClr val="444444"/>
                </a:solidFill>
                <a:latin typeface="Verdana"/>
                <a:ea typeface="Verdana"/>
                <a:cs typeface="Verdana"/>
                <a:sym typeface="Verdana"/>
              </a:rPr>
              <a:t> — frozen at training date</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③  </a:t>
            </a:r>
            <a:r>
              <a:rPr b="1" lang="en-US" sz="1300">
                <a:solidFill>
                  <a:srgbClr val="444444"/>
                </a:solidFill>
                <a:latin typeface="Verdana"/>
                <a:ea typeface="Verdana"/>
                <a:cs typeface="Verdana"/>
                <a:sym typeface="Verdana"/>
              </a:rPr>
              <a:t>No access to private data</a:t>
            </a:r>
            <a:r>
              <a:rPr lang="en-US" sz="1300">
                <a:solidFill>
                  <a:srgbClr val="444444"/>
                </a:solidFill>
                <a:latin typeface="Verdana"/>
                <a:ea typeface="Verdana"/>
                <a:cs typeface="Verdana"/>
                <a:sym typeface="Verdana"/>
              </a:rPr>
              <a:t> — doesn't know your DB, your repo, your users</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④  </a:t>
            </a:r>
            <a:r>
              <a:rPr b="1" lang="en-US" sz="1300">
                <a:solidFill>
                  <a:srgbClr val="444444"/>
                </a:solidFill>
                <a:latin typeface="Verdana"/>
                <a:ea typeface="Verdana"/>
                <a:cs typeface="Verdana"/>
                <a:sym typeface="Verdana"/>
              </a:rPr>
              <a:t>Bounded context window</a:t>
            </a:r>
            <a:r>
              <a:rPr lang="en-US" sz="1300">
                <a:solidFill>
                  <a:srgbClr val="444444"/>
                </a:solidFill>
                <a:latin typeface="Verdana"/>
                <a:ea typeface="Verdana"/>
                <a:cs typeface="Verdana"/>
                <a:sym typeface="Verdana"/>
              </a:rPr>
              <a:t> — finite room for input + output</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⑤  </a:t>
            </a:r>
            <a:r>
              <a:rPr b="1" lang="en-US" sz="1300">
                <a:solidFill>
                  <a:srgbClr val="444444"/>
                </a:solidFill>
                <a:latin typeface="Verdana"/>
                <a:ea typeface="Verdana"/>
                <a:cs typeface="Verdana"/>
                <a:sym typeface="Verdana"/>
              </a:rPr>
              <a:t>Reasoning gaps</a:t>
            </a:r>
            <a:r>
              <a:rPr lang="en-US" sz="1300">
                <a:solidFill>
                  <a:srgbClr val="444444"/>
                </a:solidFill>
                <a:latin typeface="Verdana"/>
                <a:ea typeface="Verdana"/>
                <a:cs typeface="Verdana"/>
                <a:sym typeface="Verdana"/>
              </a:rPr>
              <a:t> — math, logic, multi-hop deduction</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⑥  </a:t>
            </a:r>
            <a:r>
              <a:rPr b="1" lang="en-US" sz="1300">
                <a:solidFill>
                  <a:srgbClr val="444444"/>
                </a:solidFill>
                <a:latin typeface="Verdana"/>
                <a:ea typeface="Verdana"/>
                <a:cs typeface="Verdana"/>
                <a:sym typeface="Verdana"/>
              </a:rPr>
              <a:t>Cost &amp; latency</a:t>
            </a:r>
            <a:r>
              <a:rPr lang="en-US" sz="1300">
                <a:solidFill>
                  <a:srgbClr val="444444"/>
                </a:solidFill>
                <a:latin typeface="Verdana"/>
                <a:ea typeface="Verdana"/>
                <a:cs typeface="Verdana"/>
                <a:sym typeface="Verdana"/>
              </a:rPr>
              <a:t> — every token has a price and a delay</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Each limitation maps to a technique we'll cover this cohort:</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RAG, tools, prompt design, agents, evals.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12"/>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Limitation 1 — Hallucination</a:t>
            </a:r>
            <a:endParaRPr/>
          </a:p>
        </p:txBody>
      </p:sp>
      <p:sp>
        <p:nvSpPr>
          <p:cNvPr id="185" name="Google Shape;185;p12"/>
          <p:cNvSpPr txBox="1"/>
          <p:nvPr/>
        </p:nvSpPr>
        <p:spPr>
          <a:xfrm>
            <a:off x="571500" y="1050000"/>
            <a:ext cx="80001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33333"/>
                </a:solidFill>
                <a:latin typeface="Verdana"/>
                <a:ea typeface="Verdana"/>
                <a:cs typeface="Verdana"/>
                <a:sym typeface="Verdana"/>
              </a:rPr>
              <a:t>LLMs generate plausible-sounding text. Plausible ≠ true.</a:t>
            </a:r>
            <a:endParaRPr sz="1600"/>
          </a:p>
          <a:p>
            <a:pPr indent="0" lvl="0" marL="0" marR="0" rtl="0" algn="l">
              <a:spcBef>
                <a:spcPts val="400"/>
              </a:spcBef>
              <a:spcAft>
                <a:spcPts val="0"/>
              </a:spcAft>
              <a:buNone/>
            </a:pPr>
            <a:r>
              <a:t/>
            </a:r>
            <a:endParaRPr b="1" sz="1600">
              <a:solidFill>
                <a:srgbClr val="333333"/>
              </a:solidFill>
              <a:latin typeface="Verdana"/>
              <a:ea typeface="Verdana"/>
              <a:cs typeface="Verdana"/>
              <a:sym typeface="Verdana"/>
            </a:endParaRPr>
          </a:p>
          <a:p>
            <a:pPr indent="0" lvl="0" marL="0" marR="0" rtl="0" algn="l">
              <a:spcBef>
                <a:spcPts val="400"/>
              </a:spcBef>
              <a:spcAft>
                <a:spcPts val="0"/>
              </a:spcAft>
              <a:buNone/>
            </a:pPr>
            <a:r>
              <a:rPr b="1" lang="en-US" sz="1500">
                <a:solidFill>
                  <a:srgbClr val="05A98A"/>
                </a:solidFill>
                <a:latin typeface="Verdana"/>
                <a:ea typeface="Verdana"/>
                <a:cs typeface="Verdana"/>
                <a:sym typeface="Verdana"/>
              </a:rPr>
              <a:t>Why it happens — mechanically:</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Training objective rewards likely tokens, not true tokens</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No grounding signal at inference unless you provide one</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Model has no reliable internal 'I don't know' calibration</a:t>
            </a:r>
            <a:endParaRPr sz="1600"/>
          </a:p>
          <a:p>
            <a:pPr indent="0" lvl="0" marL="0" marR="0" rtl="0" algn="l">
              <a:spcBef>
                <a:spcPts val="400"/>
              </a:spcBef>
              <a:spcAft>
                <a:spcPts val="0"/>
              </a:spcAft>
              <a:buNone/>
            </a:pPr>
            <a:r>
              <a:t/>
            </a:r>
            <a:endParaRPr b="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500">
                <a:solidFill>
                  <a:srgbClr val="D46B08"/>
                </a:solidFill>
                <a:latin typeface="Verdana"/>
                <a:ea typeface="Verdana"/>
                <a:cs typeface="Verdana"/>
                <a:sym typeface="Verdana"/>
              </a:rPr>
              <a:t>Real failure modes engineers see:</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Invented function names from a real library  ("torch.optim.AdamWithMagic")</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Fake legal cases / DOIs / RFC numbers</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Confidently wrong API signatures, especially for newer libs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3"/>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 2 — Knowledge Cutoff</a:t>
            </a:r>
            <a:endParaRPr/>
          </a:p>
        </p:txBody>
      </p:sp>
      <p:sp>
        <p:nvSpPr>
          <p:cNvPr id="191" name="Google Shape;191;p13"/>
          <p:cNvSpPr txBox="1"/>
          <p:nvPr/>
        </p:nvSpPr>
        <p:spPr>
          <a:xfrm>
            <a:off x="571500" y="1000000"/>
            <a:ext cx="8000100" cy="340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444444"/>
                </a:solidFill>
                <a:latin typeface="Verdana"/>
                <a:ea typeface="Verdana"/>
                <a:cs typeface="Verdana"/>
                <a:sym typeface="Verdana"/>
              </a:rPr>
              <a:t>Every model has a training cutoff date. After that, it knows nothing.</a:t>
            </a:r>
            <a:endParaRPr sz="1200"/>
          </a:p>
          <a:p>
            <a:pPr indent="0" lvl="0" marL="0" marR="0" rtl="0" algn="l">
              <a:spcBef>
                <a:spcPts val="600"/>
              </a:spcBef>
              <a:spcAft>
                <a:spcPts val="0"/>
              </a:spcAft>
              <a:buNone/>
            </a:pPr>
            <a:r>
              <a:t/>
            </a:r>
            <a:endParaRPr sz="11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200">
                <a:solidFill>
                  <a:srgbClr val="333333"/>
                </a:solidFill>
                <a:latin typeface="Verdana"/>
                <a:ea typeface="Verdana"/>
                <a:cs typeface="Verdana"/>
                <a:sym typeface="Verdana"/>
              </a:rPr>
              <a:t>What it doesn't know:</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Yesterday's stock price, today's incident, last week's PR merge</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New library versions, breaking changes, deprecated APIs</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Your company's documents, ever</a:t>
            </a:r>
            <a:endParaRPr sz="1200"/>
          </a:p>
          <a:p>
            <a:pPr indent="0" lvl="0" marL="0" marR="0" rtl="0" algn="l">
              <a:spcBef>
                <a:spcPts val="600"/>
              </a:spcBef>
              <a:spcAft>
                <a:spcPts val="0"/>
              </a:spcAft>
              <a:buNone/>
            </a:pPr>
            <a:r>
              <a:t/>
            </a:r>
            <a:endParaRPr sz="11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200">
                <a:solidFill>
                  <a:srgbClr val="333333"/>
                </a:solidFill>
                <a:latin typeface="Verdana"/>
                <a:ea typeface="Verdana"/>
                <a:cs typeface="Verdana"/>
                <a:sym typeface="Verdana"/>
              </a:rPr>
              <a:t>Common engineer trap:</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Asking for code using a library released after the cutoff</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Model will happily invent an API that 'looks right'</a:t>
            </a:r>
            <a:endParaRPr sz="1200"/>
          </a:p>
          <a:p>
            <a:pPr indent="0" lvl="0" marL="0" marR="0" rtl="0" algn="l">
              <a:spcBef>
                <a:spcPts val="600"/>
              </a:spcBef>
              <a:spcAft>
                <a:spcPts val="0"/>
              </a:spcAft>
              <a:buNone/>
            </a:pPr>
            <a:r>
              <a:t/>
            </a:r>
            <a:endParaRPr sz="11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100">
                <a:solidFill>
                  <a:srgbClr val="444444"/>
                </a:solidFill>
                <a:latin typeface="Verdana"/>
                <a:ea typeface="Verdana"/>
                <a:cs typeface="Verdana"/>
                <a:sym typeface="Verdana"/>
              </a:rPr>
              <a:t>Even 'live' models like GPT-4o + browsing are RAG under the hood —</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they retrieve and inject context before generating.</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14"/>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Limitation 3 — The Context Window</a:t>
            </a:r>
            <a:endParaRPr/>
          </a:p>
        </p:txBody>
      </p:sp>
      <p:sp>
        <p:nvSpPr>
          <p:cNvPr id="197" name="Google Shape;197;p14"/>
          <p:cNvSpPr txBox="1"/>
          <p:nvPr/>
        </p:nvSpPr>
        <p:spPr>
          <a:xfrm>
            <a:off x="571500" y="1050000"/>
            <a:ext cx="8000100" cy="269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300">
                <a:solidFill>
                  <a:srgbClr val="444444"/>
                </a:solidFill>
                <a:latin typeface="Verdana"/>
                <a:ea typeface="Verdana"/>
                <a:cs typeface="Verdana"/>
                <a:sym typeface="Verdana"/>
              </a:rPr>
              <a:t>The context window is the max number of tokens the model can attend to at once.</a:t>
            </a:r>
            <a:endParaRPr/>
          </a:p>
          <a:p>
            <a:pPr indent="0" lvl="0" marL="0" marR="0" rtl="0" algn="l">
              <a:spcBef>
                <a:spcPts val="400"/>
              </a:spcBef>
              <a:spcAft>
                <a:spcPts val="0"/>
              </a:spcAft>
              <a:buNone/>
            </a:pPr>
            <a:r>
              <a:t/>
            </a:r>
            <a:endParaRPr b="0" sz="13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05A98A"/>
                </a:solidFill>
                <a:latin typeface="Verdana"/>
                <a:ea typeface="Verdana"/>
                <a:cs typeface="Verdana"/>
                <a:sym typeface="Verdana"/>
              </a:rPr>
              <a:t>Today's ranges (input + output combined):</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GPT-4o:  128K  •  Claude 3.5/4:  200K  •  Gemini 1.5/2:  1M–2M  •  Llama 3.1:  128K</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D46B08"/>
                </a:solidFill>
                <a:latin typeface="Verdana"/>
                <a:ea typeface="Verdana"/>
                <a:cs typeface="Verdana"/>
                <a:sym typeface="Verdana"/>
              </a:rPr>
              <a:t>Why 'just stuff everything in' doesn't work:</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Cost — you pay per token, every call</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Latency — attention is roughly O(n²) in sequence length</a:t>
            </a:r>
            <a:endParaRPr/>
          </a:p>
          <a:p>
            <a:pPr indent="0" lvl="0" marL="0" marR="0" rtl="0" algn="l">
              <a:spcBef>
                <a:spcPts val="400"/>
              </a:spcBef>
              <a:spcAft>
                <a:spcPts val="0"/>
              </a:spcAft>
              <a:buNone/>
            </a:pPr>
            <a:r>
              <a:t/>
            </a:r>
            <a:endParaRPr b="0" sz="1100">
              <a:solidFill>
                <a:srgbClr val="595959"/>
              </a:solidFill>
              <a:latin typeface="Verdana"/>
              <a:ea typeface="Verdana"/>
              <a:cs typeface="Verdana"/>
              <a:sym typeface="Verdana"/>
            </a:endParaRPr>
          </a:p>
          <a:p>
            <a:pPr indent="0" lvl="0" marL="0" marR="0" rtl="0" algn="l">
              <a:spcBef>
                <a:spcPts val="400"/>
              </a:spcBef>
              <a:spcAft>
                <a:spcPts val="0"/>
              </a:spcAft>
              <a:buNone/>
            </a:pPr>
            <a:r>
              <a:rPr b="1" lang="en-US" sz="1300">
                <a:solidFill>
                  <a:srgbClr val="683FBE"/>
                </a:solidFill>
                <a:latin typeface="Verdana"/>
                <a:ea typeface="Verdana"/>
                <a:cs typeface="Verdana"/>
                <a:sym typeface="Verdana"/>
              </a:rPr>
              <a:t>This is why we don't paste the whole codebase — we retrieve relevant chunks.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Retrieval is cheaper, faster, and more accurate than 'long context everything'.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5"/>
          <p:cNvSpPr txBox="1"/>
          <p:nvPr/>
        </p:nvSpPr>
        <p:spPr>
          <a:xfrm>
            <a:off x="457200" y="183925"/>
            <a:ext cx="8229600" cy="95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Limitations 4–6 — Private Data, Reasoning, Cost</a:t>
            </a:r>
            <a:endParaRPr/>
          </a:p>
        </p:txBody>
      </p:sp>
      <p:sp>
        <p:nvSpPr>
          <p:cNvPr id="203" name="Google Shape;203;p15"/>
          <p:cNvSpPr txBox="1"/>
          <p:nvPr/>
        </p:nvSpPr>
        <p:spPr>
          <a:xfrm>
            <a:off x="457200" y="1208425"/>
            <a:ext cx="8000100" cy="367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33333"/>
                </a:solidFill>
                <a:latin typeface="Verdana"/>
                <a:ea typeface="Verdana"/>
                <a:cs typeface="Verdana"/>
                <a:sym typeface="Verdana"/>
              </a:rPr>
              <a:t>4. No access to private data</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The model has never seen your repo, your tickets, your users' data</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RAG is the more practical default — fresh, auditable, cheaper</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100">
                <a:solidFill>
                  <a:srgbClr val="333333"/>
                </a:solidFill>
                <a:latin typeface="Verdana"/>
                <a:ea typeface="Verdana"/>
                <a:cs typeface="Verdana"/>
                <a:sym typeface="Verdana"/>
              </a:rPr>
              <a:t>5. Reasoning gaps</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Multi-step math, formal logic, large state-space planning</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Mitigations: chain-of-thought / 'thinking', tool use (calculator, code interpreter),</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decomposition into smaller steps, agentic loops with verification</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100">
                <a:solidFill>
                  <a:srgbClr val="333333"/>
                </a:solidFill>
                <a:latin typeface="Verdana"/>
                <a:ea typeface="Verdana"/>
                <a:cs typeface="Verdana"/>
                <a:sym typeface="Verdana"/>
              </a:rPr>
              <a:t>6. Cost &amp; latency</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Input ~$1–15 / 1M tokens, output ~$3–75 / 1M (varies wildly by model)</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First-token latency 0.3–2s, full response can be 10s+ for long output</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Levers: smaller models for easy hops, prompt caching, batching</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000">
                <a:solidFill>
                  <a:srgbClr val="444444"/>
                </a:solidFill>
                <a:latin typeface="Verdana"/>
                <a:ea typeface="Verdana"/>
                <a:cs typeface="Verdana"/>
                <a:sym typeface="Verdana"/>
              </a:rPr>
              <a:t>Most production GenAI work is *engineering around these limitations*.</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6"/>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How Do We Fix These?</a:t>
            </a:r>
            <a:endParaRPr/>
          </a:p>
        </p:txBody>
      </p:sp>
      <p:graphicFrame>
        <p:nvGraphicFramePr>
          <p:cNvPr id="209" name="Google Shape;209;p16"/>
          <p:cNvGraphicFramePr/>
          <p:nvPr/>
        </p:nvGraphicFramePr>
        <p:xfrm>
          <a:off x="457200" y="1100000"/>
          <a:ext cx="3000000" cy="3000000"/>
        </p:xfrm>
        <a:graphic>
          <a:graphicData uri="http://schemas.openxmlformats.org/drawingml/2006/table">
            <a:tbl>
              <a:tblPr bandRow="1" firstRow="1">
                <a:noFill/>
                <a:tableStyleId>{1199DBB1-B820-44BB-8052-84FF72B980C3}</a:tableStyleId>
              </a:tblPr>
              <a:tblGrid>
                <a:gridCol w="2057400"/>
                <a:gridCol w="2057400"/>
                <a:gridCol w="2057400"/>
                <a:gridCol w="2057400"/>
              </a:tblGrid>
              <a:tr h="466675">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Technique</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Changes</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Best for</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Cost</a:t>
                      </a:r>
                      <a:endParaRPr/>
                    </a:p>
                  </a:txBody>
                  <a:tcPr marT="45725" marB="45725" marR="91450" marL="91450">
                    <a:solidFill>
                      <a:srgbClr val="683FBE"/>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Prompt engineering</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you ask</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Behavior, format, tone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Free, instant</a:t>
                      </a:r>
                      <a:endParaRPr/>
                    </a:p>
                  </a:txBody>
                  <a:tcPr marT="45725" marB="45725" marR="91450" marL="91450">
                    <a:solidFill>
                      <a:srgbClr val="FFFFFF"/>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RAG</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the model sees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Fresh / private / large data</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Low–medium</a:t>
                      </a:r>
                      <a:endParaRPr/>
                    </a:p>
                  </a:txBody>
                  <a:tcPr marT="45725" marB="45725" marR="91450" marL="91450">
                    <a:solidFill>
                      <a:srgbClr val="F8F6FC"/>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Tool use / function calling</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the model can do</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Actions, math, real-time data</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Low–medium</a:t>
                      </a:r>
                      <a:endParaRPr/>
                    </a:p>
                  </a:txBody>
                  <a:tcPr marT="45725" marB="45725" marR="91450" marL="91450">
                    <a:solidFill>
                      <a:srgbClr val="FFFFFF"/>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Fine-tuning</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The model itself</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Stable style, niche tasks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High, slow</a:t>
                      </a:r>
                      <a:endParaRPr/>
                    </a:p>
                  </a:txBody>
                  <a:tcPr marT="45725" marB="45725" marR="91450" marL="91450">
                    <a:solidFill>
                      <a:srgbClr val="F8F6FC"/>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Agents / orchestration</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How calls compose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Multi-step workflows</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Medium–high</a:t>
                      </a:r>
                      <a:endParaRPr/>
                    </a:p>
                  </a:txBody>
                  <a:tcPr marT="45725" marB="45725" marR="91450" marL="91450">
                    <a:solidFill>
                      <a:srgbClr val="FFFFFF"/>
                    </a:solidFill>
                  </a:tcPr>
                </a:tc>
              </a:tr>
            </a:tbl>
          </a:graphicData>
        </a:graphic>
      </p:graphicFrame>
      <p:sp>
        <p:nvSpPr>
          <p:cNvPr id="210" name="Google Shape;210;p16"/>
          <p:cNvSpPr txBox="1"/>
          <p:nvPr/>
        </p:nvSpPr>
        <p:spPr>
          <a:xfrm>
            <a:off x="457200" y="4150000"/>
            <a:ext cx="82296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683FBE"/>
                </a:solidFill>
                <a:latin typeface="Verdana"/>
                <a:ea typeface="Verdana"/>
                <a:cs typeface="Verdana"/>
                <a:sym typeface="Verdana"/>
              </a:rPr>
              <a:t>Default ladder: Prompt  →  RAG/tools  →  Agent loop  →  Fine-tune (only when the rest plateaus).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19"/>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Embeddings</a:t>
            </a:r>
            <a:endParaRPr/>
          </a:p>
        </p:txBody>
      </p:sp>
      <p:sp>
        <p:nvSpPr>
          <p:cNvPr id="216" name="Google Shape;216;p19"/>
          <p:cNvSpPr txBox="1"/>
          <p:nvPr/>
        </p:nvSpPr>
        <p:spPr>
          <a:xfrm>
            <a:off x="519400" y="836250"/>
            <a:ext cx="8000100" cy="409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44444"/>
                </a:solidFill>
                <a:latin typeface="Verdana"/>
                <a:ea typeface="Verdana"/>
                <a:cs typeface="Verdana"/>
                <a:sym typeface="Verdana"/>
              </a:rPr>
              <a:t>An embedding is just a way to turn text into a list of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 so a model can understand meaning</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What it looks like</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Any sentence → becomes a fixed-size vector (list of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Example:</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“Reset my password” → one vector</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“How do I change my login credentials?” → very similar vector</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“What time is the meeting?” → very different vector</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Key idea</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Similar meaning = similar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Even if the words are different, the vectors can still be close.</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Cool example (idea)</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king − man + woman ≈ queen</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The model captures relationships between meanings</a:t>
            </a:r>
            <a:endParaRPr sz="1300">
              <a:solidFill>
                <a:srgbClr val="444444"/>
              </a:solidFill>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20"/>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Embedding Models — The Landscape</a:t>
            </a:r>
            <a:endParaRPr/>
          </a:p>
        </p:txBody>
      </p:sp>
      <p:graphicFrame>
        <p:nvGraphicFramePr>
          <p:cNvPr id="222" name="Google Shape;222;p20"/>
          <p:cNvGraphicFramePr/>
          <p:nvPr/>
        </p:nvGraphicFramePr>
        <p:xfrm>
          <a:off x="457200" y="1050000"/>
          <a:ext cx="3000000" cy="3000000"/>
        </p:xfrm>
        <a:graphic>
          <a:graphicData uri="http://schemas.openxmlformats.org/drawingml/2006/table">
            <a:tbl>
              <a:tblPr bandRow="1" firstRow="1">
                <a:noFill/>
                <a:tableStyleId>{1199DBB1-B820-44BB-8052-84FF72B980C3}</a:tableStyleId>
              </a:tblPr>
              <a:tblGrid>
                <a:gridCol w="2057400"/>
                <a:gridCol w="2057400"/>
                <a:gridCol w="2057400"/>
                <a:gridCol w="2057400"/>
              </a:tblGrid>
              <a:tr h="428575">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Model</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Provider</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Dim</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Notes</a:t>
                      </a:r>
                      <a:endParaRPr/>
                    </a:p>
                  </a:txBody>
                  <a:tcPr marT="45725" marB="45725" marR="91450" marL="91450">
                    <a:solidFill>
                      <a:srgbClr val="683FBE"/>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text-embedding-3-large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OpenAI</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3072</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Highest quality, configurable dims</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text-embedding-3-small</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OpenAI</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1536</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Cheap, surprisingly strong</a:t>
                      </a:r>
                      <a:endParaRPr/>
                    </a:p>
                  </a:txBody>
                  <a:tcPr marT="45725" marB="45725" marR="91450" marL="91450">
                    <a:solidFill>
                      <a:srgbClr val="F8F6FC"/>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voyage-3 / voyage-code-3</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Voyage AI</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Top of MTEB; code-tuned variant</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embed-v4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Cohere</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Multilingual, strong recall</a:t>
                      </a:r>
                      <a:endParaRPr/>
                    </a:p>
                  </a:txBody>
                  <a:tcPr marT="45725" marB="45725" marR="91450" marL="91450">
                    <a:solidFill>
                      <a:srgbClr val="F8F6FC"/>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bge-large-en-v1.5</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BAAI (open-source)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Self-host, GPU friendly</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all-MiniLM-L6-v2</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Sentence Transformers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384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Tiny, runs on CPU, prototyping</a:t>
                      </a:r>
                      <a:endParaRPr/>
                    </a:p>
                  </a:txBody>
                  <a:tcPr marT="45725" marB="45725" marR="91450" marL="91450">
                    <a:solidFill>
                      <a:srgbClr val="F8F6FC"/>
                    </a:solidFill>
                  </a:tcPr>
                </a:tc>
              </a:tr>
            </a:tbl>
          </a:graphicData>
        </a:graphic>
      </p:graphicFrame>
      <p:sp>
        <p:nvSpPr>
          <p:cNvPr id="223" name="Google Shape;223;p20"/>
          <p:cNvSpPr txBox="1"/>
          <p:nvPr/>
        </p:nvSpPr>
        <p:spPr>
          <a:xfrm>
            <a:off x="457200" y="4250000"/>
            <a:ext cx="82296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595959"/>
                </a:solidFill>
                <a:latin typeface="Verdana"/>
                <a:ea typeface="Verdana"/>
                <a:cs typeface="Verdana"/>
                <a:sym typeface="Verdana"/>
              </a:rPr>
              <a:t>Pick by: quality (MTEB leaderboard), cost, latency, dimension (storage), and self-host vs API.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g3e6f6401ce1_0_3"/>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Tools</a:t>
            </a:r>
            <a:endParaRPr/>
          </a:p>
        </p:txBody>
      </p:sp>
      <p:sp>
        <p:nvSpPr>
          <p:cNvPr id="229" name="Google Shape;229;g3e6f6401ce1_0_3"/>
          <p:cNvSpPr txBox="1"/>
          <p:nvPr/>
        </p:nvSpPr>
        <p:spPr>
          <a:xfrm>
            <a:off x="571500" y="1000000"/>
            <a:ext cx="8000100" cy="34785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Cursor </a:t>
            </a:r>
            <a:r>
              <a:rPr b="1" lang="en-US" sz="2000" u="sng">
                <a:solidFill>
                  <a:schemeClr val="hlink"/>
                </a:solidFill>
                <a:latin typeface="Verdana"/>
                <a:ea typeface="Verdana"/>
                <a:cs typeface="Verdana"/>
                <a:sym typeface="Verdana"/>
                <a:hlinkClick r:id="rId3"/>
              </a:rPr>
              <a:t>https://cursor.com/download</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Antigravity </a:t>
            </a:r>
            <a:r>
              <a:rPr b="1" lang="en-US" sz="2000" u="sng">
                <a:solidFill>
                  <a:schemeClr val="hlink"/>
                </a:solidFill>
                <a:latin typeface="Verdana"/>
                <a:ea typeface="Verdana"/>
                <a:cs typeface="Verdana"/>
                <a:sym typeface="Verdana"/>
                <a:hlinkClick r:id="rId4"/>
              </a:rPr>
              <a:t>https://antigravity.google/</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Windsurf </a:t>
            </a:r>
            <a:r>
              <a:rPr b="1" lang="en-US" sz="2000" u="sng">
                <a:solidFill>
                  <a:schemeClr val="hlink"/>
                </a:solidFill>
                <a:latin typeface="Verdana"/>
                <a:ea typeface="Verdana"/>
                <a:cs typeface="Verdana"/>
                <a:sym typeface="Verdana"/>
                <a:hlinkClick r:id="rId5"/>
              </a:rPr>
              <a:t>https://windsurf.com/</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Qoder </a:t>
            </a:r>
            <a:r>
              <a:rPr b="1" lang="en-US" sz="2000" u="sng">
                <a:solidFill>
                  <a:schemeClr val="hlink"/>
                </a:solidFill>
                <a:latin typeface="Verdana"/>
                <a:ea typeface="Verdana"/>
                <a:cs typeface="Verdana"/>
                <a:sym typeface="Verdana"/>
                <a:hlinkClick r:id="rId6"/>
              </a:rPr>
              <a:t>https://qoder.com/</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VS Code + Claude (If you have PAID version) </a:t>
            </a:r>
            <a:endParaRPr b="1" sz="2000">
              <a:solidFill>
                <a:srgbClr val="333333"/>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32"/>
          <p:cNvSpPr txBox="1"/>
          <p:nvPr/>
        </p:nvSpPr>
        <p:spPr>
          <a:xfrm>
            <a:off x="500000" y="1500000"/>
            <a:ext cx="8000000" cy="700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rgbClr val="683FBE"/>
                </a:solidFill>
                <a:latin typeface="Helvetica Neue"/>
                <a:ea typeface="Helvetica Neue"/>
                <a:cs typeface="Helvetica Neue"/>
                <a:sym typeface="Helvetica Neue"/>
              </a:rPr>
              <a:t>Questions?</a:t>
            </a:r>
            <a:endParaRPr/>
          </a:p>
        </p:txBody>
      </p:sp>
      <p:sp>
        <p:nvSpPr>
          <p:cNvPr id="235" name="Google Shape;235;p32"/>
          <p:cNvSpPr txBox="1"/>
          <p:nvPr/>
        </p:nvSpPr>
        <p:spPr>
          <a:xfrm>
            <a:off x="500000" y="2400000"/>
            <a:ext cx="800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600">
                <a:solidFill>
                  <a:srgbClr val="333333"/>
                </a:solidFill>
                <a:latin typeface="Verdana"/>
                <a:ea typeface="Verdana"/>
                <a:cs typeface="Verdana"/>
                <a:sym typeface="Verdana"/>
              </a:rPr>
              <a:t>Today's foundations → next session we get our hands dirty with prompts.</a:t>
            </a:r>
            <a:endParaRPr/>
          </a:p>
        </p:txBody>
      </p:sp>
      <p:sp>
        <p:nvSpPr>
          <p:cNvPr id="236" name="Google Shape;236;p32"/>
          <p:cNvSpPr txBox="1"/>
          <p:nvPr/>
        </p:nvSpPr>
        <p:spPr>
          <a:xfrm>
            <a:off x="500000" y="3500000"/>
            <a:ext cx="80001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05A98A"/>
                </a:solidFill>
                <a:latin typeface="Verdana"/>
                <a:ea typeface="Verdana"/>
                <a:cs typeface="Verdana"/>
                <a:sym typeface="Verdana"/>
              </a:rPr>
              <a:t>Saksham Arora  •  Software Engineer II @ Intuit</a:t>
            </a:r>
            <a:endParaRPr b="1" sz="1400">
              <a:solidFill>
                <a:srgbClr val="05A98A"/>
              </a:solidFill>
              <a:latin typeface="Verdana"/>
              <a:ea typeface="Verdana"/>
              <a:cs typeface="Verdana"/>
              <a:sym typeface="Verdana"/>
            </a:endParaRPr>
          </a:p>
          <a:p>
            <a:pPr indent="0" lvl="0" marL="0" marR="0" rtl="0" algn="ctr">
              <a:spcBef>
                <a:spcPts val="0"/>
              </a:spcBef>
              <a:spcAft>
                <a:spcPts val="0"/>
              </a:spcAft>
              <a:buNone/>
            </a:pPr>
            <a:r>
              <a:rPr b="1" lang="en-US" u="sng">
                <a:solidFill>
                  <a:schemeClr val="hlink"/>
                </a:solidFill>
                <a:latin typeface="Verdana"/>
                <a:ea typeface="Verdana"/>
                <a:cs typeface="Verdana"/>
                <a:sym typeface="Verdana"/>
                <a:hlinkClick r:id="rId3"/>
              </a:rPr>
              <a:t>https://www.linkedin.com/in/sakshamarora9575/</a:t>
            </a:r>
            <a:r>
              <a:rPr b="1" lang="en-US">
                <a:solidFill>
                  <a:srgbClr val="05A98A"/>
                </a:solidFill>
                <a:latin typeface="Verdana"/>
                <a:ea typeface="Verdana"/>
                <a:cs typeface="Verdana"/>
                <a:sym typeface="Verdana"/>
              </a:rPr>
              <a:t> </a:t>
            </a:r>
            <a:endParaRPr b="1">
              <a:solidFill>
                <a:srgbClr val="05A98A"/>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