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y="5143500" cx="9144000"/>
  <p:notesSz cx="6858000" cy="9144000"/>
  <p:embeddedFontLst>
    <p:embeddedFont>
      <p:font typeface="Helvetica Neue"/>
      <p:regular r:id="rId27"/>
      <p:bold r:id="rId28"/>
      <p:italic r:id="rId29"/>
      <p:boldItalic r:id="rId3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31" roundtripDataSignature="AMtx7mjuH7x8FpKy66e6YGNITuVyxe9a7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EEDD338D-75BE-41AA-9DFF-B05E8549D9A4}">
  <a:tblStyle styleId="{EEDD338D-75BE-41AA-9DFF-B05E8549D9A4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font" Target="fonts/HelveticaNeue-bold.fntdata"/><Relationship Id="rId27" Type="http://schemas.openxmlformats.org/officeDocument/2006/relationships/font" Target="fonts/HelveticaNeue-regular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HelveticaNeue-italic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customschemas.google.com/relationships/presentationmetadata" Target="metadata"/><Relationship Id="rId30" Type="http://schemas.openxmlformats.org/officeDocument/2006/relationships/font" Target="fonts/HelveticaNeue-boldItalic.fnt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1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1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p1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2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" name="Google Shape;235;p2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p2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7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7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2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2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28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2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2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2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9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29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2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2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2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3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30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30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3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3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3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3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31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31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31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31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3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3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3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3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3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3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3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33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33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33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3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3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3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34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34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34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3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3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3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35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3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3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3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6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36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3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3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3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25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2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2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2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hyperlink" Target="https://www.linkedin.com/in/sakshamarora9575/" TargetMode="Externa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/>
          <p:nvPr/>
        </p:nvSpPr>
        <p:spPr>
          <a:xfrm>
            <a:off x="500000" y="1000000"/>
            <a:ext cx="8000000" cy="5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200" u="none" cap="none" strike="noStrike">
                <a:solidFill>
                  <a:srgbClr val="33333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AI Agents</a:t>
            </a:r>
            <a:endParaRPr/>
          </a:p>
        </p:txBody>
      </p:sp>
      <p:sp>
        <p:nvSpPr>
          <p:cNvPr id="85" name="Google Shape;85;p1"/>
          <p:cNvSpPr txBox="1"/>
          <p:nvPr/>
        </p:nvSpPr>
        <p:spPr>
          <a:xfrm>
            <a:off x="500000" y="1600000"/>
            <a:ext cx="7000000" cy="5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200" u="none" cap="none" strike="noStrike">
                <a:solidFill>
                  <a:srgbClr val="33333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in LangChain</a:t>
            </a:r>
            <a:endParaRPr/>
          </a:p>
        </p:txBody>
      </p:sp>
      <p:sp>
        <p:nvSpPr>
          <p:cNvPr id="86" name="Google Shape;86;p1"/>
          <p:cNvSpPr txBox="1"/>
          <p:nvPr/>
        </p:nvSpPr>
        <p:spPr>
          <a:xfrm>
            <a:off x="500000" y="2350000"/>
            <a:ext cx="8500000" cy="5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683FBE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From an AI that ANSWERS to an AI that ACTS</a:t>
            </a:r>
            <a:endParaRPr/>
          </a:p>
        </p:txBody>
      </p:sp>
      <p:sp>
        <p:nvSpPr>
          <p:cNvPr id="87" name="Google Shape;87;p1"/>
          <p:cNvSpPr txBox="1"/>
          <p:nvPr/>
        </p:nvSpPr>
        <p:spPr>
          <a:xfrm>
            <a:off x="530000" y="2900000"/>
            <a:ext cx="6000000" cy="2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05A98A"/>
                </a:solidFill>
                <a:latin typeface="Verdana"/>
                <a:ea typeface="Verdana"/>
                <a:cs typeface="Verdana"/>
                <a:sym typeface="Verdana"/>
              </a:rPr>
              <a:t>Session 8 — GenAI Cohort</a:t>
            </a:r>
            <a:endParaRPr/>
          </a:p>
        </p:txBody>
      </p:sp>
      <p:sp>
        <p:nvSpPr>
          <p:cNvPr id="88" name="Google Shape;88;p1"/>
          <p:cNvSpPr txBox="1"/>
          <p:nvPr/>
        </p:nvSpPr>
        <p:spPr>
          <a:xfrm>
            <a:off x="530000" y="3700000"/>
            <a:ext cx="3000000" cy="2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333333"/>
                </a:solidFill>
                <a:latin typeface="Verdana"/>
                <a:ea typeface="Verdana"/>
                <a:cs typeface="Verdana"/>
                <a:sym typeface="Verdana"/>
              </a:rPr>
              <a:t>Saksham Arora</a:t>
            </a:r>
            <a:endParaRPr/>
          </a:p>
        </p:txBody>
      </p:sp>
      <p:sp>
        <p:nvSpPr>
          <p:cNvPr id="89" name="Google Shape;89;p1"/>
          <p:cNvSpPr txBox="1"/>
          <p:nvPr/>
        </p:nvSpPr>
        <p:spPr>
          <a:xfrm>
            <a:off x="530000" y="3950000"/>
            <a:ext cx="4000000" cy="2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333333"/>
                </a:solidFill>
                <a:latin typeface="Verdana"/>
                <a:ea typeface="Verdana"/>
                <a:cs typeface="Verdana"/>
                <a:sym typeface="Verdana"/>
              </a:rPr>
              <a:t>Software Engineer II @ Intuit</a:t>
            </a:r>
            <a:endParaRPr/>
          </a:p>
        </p:txBody>
      </p:sp>
      <p:sp>
        <p:nvSpPr>
          <p:cNvPr id="90" name="Google Shape;90;p1"/>
          <p:cNvSpPr txBox="1"/>
          <p:nvPr/>
        </p:nvSpPr>
        <p:spPr>
          <a:xfrm>
            <a:off x="530000" y="4200000"/>
            <a:ext cx="5748600" cy="12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n-US" sz="1200">
                <a:solidFill>
                  <a:srgbClr val="333333"/>
                </a:solidFill>
                <a:latin typeface="Verdana"/>
                <a:ea typeface="Verdana"/>
                <a:cs typeface="Verdana"/>
                <a:sym typeface="Verdana"/>
              </a:rPr>
              <a:t>Ex - Software Engineer @ Microsoft</a:t>
            </a:r>
            <a:endParaRPr b="1" sz="1200">
              <a:solidFill>
                <a:srgbClr val="333333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n-US" sz="1200" u="sng">
                <a:solidFill>
                  <a:schemeClr val="hlink"/>
                </a:solidFill>
                <a:latin typeface="Verdana"/>
                <a:ea typeface="Verdana"/>
                <a:cs typeface="Verdana"/>
                <a:sym typeface="Verdana"/>
                <a:hlinkClick r:id="rId3"/>
              </a:rPr>
              <a:t>https://www.linkedin.com/in/sakshamarora9575/</a:t>
            </a:r>
            <a:r>
              <a:rPr b="1" lang="en-US" sz="1200">
                <a:solidFill>
                  <a:srgbClr val="333333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endParaRPr b="1" sz="1200">
              <a:solidFill>
                <a:srgbClr val="333333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t/>
            </a:r>
            <a:endParaRPr b="1" sz="1200">
              <a:solidFill>
                <a:srgbClr val="333333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t/>
            </a:r>
            <a:endParaRPr sz="1200">
              <a:solidFill>
                <a:srgbClr val="595959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t/>
            </a:r>
            <a:endParaRPr sz="1200">
              <a:solidFill>
                <a:srgbClr val="595959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595959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4"/>
          <p:cNvSpPr txBox="1"/>
          <p:nvPr/>
        </p:nvSpPr>
        <p:spPr>
          <a:xfrm>
            <a:off x="457200" y="228600"/>
            <a:ext cx="8229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683FBE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The Big Idea — A Chatbot vs A New Intern</a:t>
            </a:r>
            <a:endParaRPr/>
          </a:p>
        </p:txBody>
      </p:sp>
      <p:sp>
        <p:nvSpPr>
          <p:cNvPr id="96" name="Google Shape;96;p4"/>
          <p:cNvSpPr txBox="1"/>
          <p:nvPr/>
        </p:nvSpPr>
        <p:spPr>
          <a:xfrm>
            <a:off x="571500" y="1050000"/>
            <a:ext cx="8000000" cy="37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333333"/>
                </a:solidFill>
                <a:latin typeface="Verdana"/>
                <a:ea typeface="Verdana"/>
                <a:cs typeface="Verdana"/>
                <a:sym typeface="Verdana"/>
              </a:rPr>
              <a:t>A chatbot is like a know-it-all friend on the phone.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444444"/>
                </a:solidFill>
                <a:latin typeface="Verdana"/>
                <a:ea typeface="Verdana"/>
                <a:cs typeface="Verdana"/>
                <a:sym typeface="Verdana"/>
              </a:rPr>
              <a:t>You ask, they TELL you the answer. They can't actually DO anything.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444444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333333"/>
                </a:solidFill>
                <a:latin typeface="Verdana"/>
                <a:ea typeface="Verdana"/>
                <a:cs typeface="Verdana"/>
                <a:sym typeface="Verdana"/>
              </a:rPr>
              <a:t>An agent is like a smart new intern at your desk.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444444"/>
                </a:solidFill>
                <a:latin typeface="Verdana"/>
                <a:ea typeface="Verdana"/>
                <a:cs typeface="Verdana"/>
                <a:sym typeface="Verdana"/>
              </a:rPr>
              <a:t>You give them a GOAL, not step-by-step instructions: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2E86C1"/>
                </a:solidFill>
                <a:latin typeface="Verdana"/>
                <a:ea typeface="Verdana"/>
                <a:cs typeface="Verdana"/>
                <a:sym typeface="Verdana"/>
              </a:rPr>
              <a:t>       'Find me last week's top customer complaints and email me a summary.'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1300" u="none" cap="none" strike="noStrike">
              <a:solidFill>
                <a:srgbClr val="2E86C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444444"/>
                </a:solidFill>
                <a:latin typeface="Verdana"/>
                <a:ea typeface="Verdana"/>
                <a:cs typeface="Verdana"/>
                <a:sym typeface="Verdana"/>
              </a:rPr>
              <a:t>The intern figures out the steps on their own: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595959"/>
                </a:solidFill>
                <a:latin typeface="Verdana"/>
                <a:ea typeface="Verdana"/>
                <a:cs typeface="Verdana"/>
                <a:sym typeface="Verdana"/>
              </a:rPr>
              <a:t>   •  open the reviews, read them, group the complaints,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595959"/>
                </a:solidFill>
                <a:latin typeface="Verdana"/>
                <a:ea typeface="Verdana"/>
                <a:cs typeface="Verdana"/>
                <a:sym typeface="Verdana"/>
              </a:rPr>
              <a:t>   •  write a summary, then send the email.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1300" u="none" cap="none" strike="noStrike">
              <a:solidFill>
                <a:srgbClr val="595959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683FBE"/>
                </a:solidFill>
                <a:latin typeface="Verdana"/>
                <a:ea typeface="Verdana"/>
                <a:cs typeface="Verdana"/>
                <a:sym typeface="Verdana"/>
              </a:rPr>
              <a:t>**You gave a goal. The intern chose the actions. That is an AGENT.**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5"/>
          <p:cNvSpPr txBox="1"/>
          <p:nvPr/>
        </p:nvSpPr>
        <p:spPr>
          <a:xfrm>
            <a:off x="457200" y="228600"/>
            <a:ext cx="8229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683FBE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What Is an AI Agent?</a:t>
            </a:r>
            <a:endParaRPr/>
          </a:p>
        </p:txBody>
      </p:sp>
      <p:sp>
        <p:nvSpPr>
          <p:cNvPr id="102" name="Google Shape;102;p5"/>
          <p:cNvSpPr txBox="1"/>
          <p:nvPr/>
        </p:nvSpPr>
        <p:spPr>
          <a:xfrm>
            <a:off x="571950" y="863525"/>
            <a:ext cx="8000100" cy="4202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444444"/>
                </a:solidFill>
                <a:latin typeface="Verdana"/>
                <a:ea typeface="Verdana"/>
                <a:cs typeface="Verdana"/>
                <a:sym typeface="Verdana"/>
              </a:rPr>
              <a:t>**An AI agent = an LLM that can decide what to do, and do it,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444444"/>
                </a:solidFill>
                <a:latin typeface="Verdana"/>
                <a:ea typeface="Verdana"/>
                <a:cs typeface="Verdana"/>
                <a:sym typeface="Verdana"/>
              </a:rPr>
              <a:t>   in a loop, until the goal is reached.**</a:t>
            </a:r>
            <a:endParaRPr b="0" i="0" sz="1400" u="none" cap="none" strike="noStrike">
              <a:solidFill>
                <a:srgbClr val="444444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444444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444444"/>
                </a:solidFill>
                <a:latin typeface="Verdana"/>
                <a:ea typeface="Verdana"/>
                <a:cs typeface="Verdana"/>
                <a:sym typeface="Verdana"/>
              </a:rPr>
              <a:t>Three things make it an agent:</a:t>
            </a:r>
            <a:endParaRPr b="0" i="0" sz="1400" u="none" cap="none" strike="noStrike">
              <a:solidFill>
                <a:srgbClr val="444444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444444"/>
                </a:solidFill>
                <a:latin typeface="Verdana"/>
                <a:ea typeface="Verdana"/>
                <a:cs typeface="Verdana"/>
                <a:sym typeface="Verdana"/>
              </a:rPr>
              <a:t>**1.  </a:t>
            </a:r>
            <a:r>
              <a:rPr b="1" i="0" lang="en-US" sz="1400" u="none" cap="none" strike="noStrike">
                <a:solidFill>
                  <a:srgbClr val="444444"/>
                </a:solidFill>
                <a:latin typeface="Verdana"/>
                <a:ea typeface="Verdana"/>
                <a:cs typeface="Verdana"/>
                <a:sym typeface="Verdana"/>
              </a:rPr>
              <a:t>A goal</a:t>
            </a:r>
            <a:r>
              <a:rPr b="0" i="0" lang="en-US" sz="1400" u="none" cap="none" strike="noStrike">
                <a:solidFill>
                  <a:srgbClr val="444444"/>
                </a:solidFill>
                <a:latin typeface="Verdana"/>
                <a:ea typeface="Verdana"/>
                <a:cs typeface="Verdana"/>
                <a:sym typeface="Verdana"/>
              </a:rPr>
              <a:t>**  — you tell it WHAT you want, not HOW.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444444"/>
                </a:solidFill>
                <a:latin typeface="Verdana"/>
                <a:ea typeface="Verdana"/>
                <a:cs typeface="Verdana"/>
                <a:sym typeface="Verdana"/>
              </a:rPr>
              <a:t>         'Book the cheapest flight to Delhi next Friday.'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444444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444444"/>
                </a:solidFill>
                <a:latin typeface="Verdana"/>
                <a:ea typeface="Verdana"/>
                <a:cs typeface="Verdana"/>
                <a:sym typeface="Verdana"/>
              </a:rPr>
              <a:t>**2.  </a:t>
            </a:r>
            <a:r>
              <a:rPr b="1" i="0" lang="en-US" sz="1400" u="none" cap="none" strike="noStrike">
                <a:solidFill>
                  <a:srgbClr val="444444"/>
                </a:solidFill>
                <a:latin typeface="Verdana"/>
                <a:ea typeface="Verdana"/>
                <a:cs typeface="Verdana"/>
                <a:sym typeface="Verdana"/>
              </a:rPr>
              <a:t>Tools</a:t>
            </a:r>
            <a:r>
              <a:rPr b="0" i="0" lang="en-US" sz="1400" u="none" cap="none" strike="noStrike">
                <a:solidFill>
                  <a:srgbClr val="444444"/>
                </a:solidFill>
                <a:latin typeface="Verdana"/>
                <a:ea typeface="Verdana"/>
                <a:cs typeface="Verdana"/>
                <a:sym typeface="Verdana"/>
              </a:rPr>
              <a:t>**  — things it can actually use (search, calculator,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444444"/>
                </a:solidFill>
                <a:latin typeface="Verdana"/>
                <a:ea typeface="Verdana"/>
                <a:cs typeface="Verdana"/>
                <a:sym typeface="Verdana"/>
              </a:rPr>
              <a:t>         send email, query a database, call an API).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444444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444444"/>
                </a:solidFill>
                <a:latin typeface="Verdana"/>
                <a:ea typeface="Verdana"/>
                <a:cs typeface="Verdana"/>
                <a:sym typeface="Verdana"/>
              </a:rPr>
              <a:t>**3.  </a:t>
            </a:r>
            <a:r>
              <a:rPr b="1" i="0" lang="en-US" sz="1400" u="none" cap="none" strike="noStrike">
                <a:solidFill>
                  <a:srgbClr val="444444"/>
                </a:solidFill>
                <a:latin typeface="Verdana"/>
                <a:ea typeface="Verdana"/>
                <a:cs typeface="Verdana"/>
                <a:sym typeface="Verdana"/>
              </a:rPr>
              <a:t>A loop</a:t>
            </a:r>
            <a:r>
              <a:rPr b="0" i="0" lang="en-US" sz="1400" u="none" cap="none" strike="noStrike">
                <a:solidFill>
                  <a:srgbClr val="444444"/>
                </a:solidFill>
                <a:latin typeface="Verdana"/>
                <a:ea typeface="Verdana"/>
                <a:cs typeface="Verdana"/>
                <a:sym typeface="Verdana"/>
              </a:rPr>
              <a:t>**  — it thinks, takes one action, looks at the result,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444444"/>
                </a:solidFill>
                <a:latin typeface="Verdana"/>
                <a:ea typeface="Verdana"/>
                <a:cs typeface="Verdana"/>
                <a:sym typeface="Verdana"/>
              </a:rPr>
              <a:t>         then decides the next action. Repeat until done.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444444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3333"/>
                </a:solidFill>
                <a:latin typeface="Verdana"/>
                <a:ea typeface="Verdana"/>
                <a:cs typeface="Verdana"/>
                <a:sym typeface="Verdana"/>
              </a:rPr>
              <a:t>The LLM is the 'brain' that drives the loop and picks the tools.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6"/>
          <p:cNvSpPr txBox="1"/>
          <p:nvPr/>
        </p:nvSpPr>
        <p:spPr>
          <a:xfrm>
            <a:off x="457200" y="228600"/>
            <a:ext cx="8229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683FBE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Chain vs Agent — Who Decides the Steps?</a:t>
            </a:r>
            <a:endParaRPr/>
          </a:p>
        </p:txBody>
      </p:sp>
      <p:sp>
        <p:nvSpPr>
          <p:cNvPr id="108" name="Google Shape;108;p6"/>
          <p:cNvSpPr txBox="1"/>
          <p:nvPr/>
        </p:nvSpPr>
        <p:spPr>
          <a:xfrm>
            <a:off x="457200" y="950000"/>
            <a:ext cx="3900000" cy="3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2E86C1"/>
                </a:solidFill>
                <a:latin typeface="Verdana"/>
                <a:ea typeface="Verdana"/>
                <a:cs typeface="Verdana"/>
                <a:sym typeface="Verdana"/>
              </a:rPr>
              <a:t>Chain (last session)</a:t>
            </a:r>
            <a:endParaRPr/>
          </a:p>
        </p:txBody>
      </p:sp>
      <p:sp>
        <p:nvSpPr>
          <p:cNvPr id="109" name="Google Shape;109;p6"/>
          <p:cNvSpPr txBox="1"/>
          <p:nvPr/>
        </p:nvSpPr>
        <p:spPr>
          <a:xfrm>
            <a:off x="457200" y="1350000"/>
            <a:ext cx="3900000" cy="3414600"/>
          </a:xfrm>
          <a:prstGeom prst="rect">
            <a:avLst/>
          </a:prstGeom>
          <a:solidFill>
            <a:srgbClr val="ECF3FA"/>
          </a:solidFill>
          <a:ln>
            <a:noFill/>
          </a:ln>
        </p:spPr>
        <p:txBody>
          <a:bodyPr anchorCtr="0" anchor="t" bIns="45700" lIns="150000" spcFirstLastPara="1" rIns="150000" wrap="square" tIns="1500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333333"/>
                </a:solidFill>
                <a:latin typeface="Verdana"/>
                <a:ea typeface="Verdana"/>
                <a:cs typeface="Verdana"/>
                <a:sym typeface="Verdana"/>
              </a:rPr>
              <a:t>WE decide the steps in advance.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1300" u="none" cap="none" strike="noStrike">
              <a:solidFill>
                <a:srgbClr val="333333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333333"/>
                </a:solidFill>
                <a:latin typeface="Verdana"/>
                <a:ea typeface="Verdana"/>
                <a:cs typeface="Verdana"/>
                <a:sym typeface="Verdana"/>
              </a:rPr>
              <a:t>prompt → LLM → parser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333333"/>
                </a:solidFill>
                <a:latin typeface="Verdana"/>
                <a:ea typeface="Verdana"/>
                <a:cs typeface="Verdana"/>
                <a:sym typeface="Verdana"/>
              </a:rPr>
              <a:t>(always the same path)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1300" u="none" cap="none" strike="noStrike">
              <a:solidFill>
                <a:srgbClr val="333333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333333"/>
                </a:solidFill>
                <a:latin typeface="Verdana"/>
                <a:ea typeface="Verdana"/>
                <a:cs typeface="Verdana"/>
                <a:sym typeface="Verdana"/>
              </a:rPr>
              <a:t>Good: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333333"/>
                </a:solidFill>
                <a:latin typeface="Verdana"/>
                <a:ea typeface="Verdana"/>
                <a:cs typeface="Verdana"/>
                <a:sym typeface="Verdana"/>
              </a:rPr>
              <a:t>•  Predictable, easy to test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333333"/>
                </a:solidFill>
                <a:latin typeface="Verdana"/>
                <a:ea typeface="Verdana"/>
                <a:cs typeface="Verdana"/>
                <a:sym typeface="Verdana"/>
              </a:rPr>
              <a:t>•  Cheap and fast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1300" u="none" cap="none" strike="noStrike">
              <a:solidFill>
                <a:srgbClr val="333333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333333"/>
                </a:solidFill>
                <a:latin typeface="Verdana"/>
                <a:ea typeface="Verdana"/>
                <a:cs typeface="Verdana"/>
                <a:sym typeface="Verdana"/>
              </a:rPr>
              <a:t>Bad: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333333"/>
                </a:solidFill>
                <a:latin typeface="Verdana"/>
                <a:ea typeface="Verdana"/>
                <a:cs typeface="Verdana"/>
                <a:sym typeface="Verdana"/>
              </a:rPr>
              <a:t>•  Can't handle surprises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333333"/>
                </a:solidFill>
                <a:latin typeface="Verdana"/>
                <a:ea typeface="Verdana"/>
                <a:cs typeface="Verdana"/>
                <a:sym typeface="Verdana"/>
              </a:rPr>
              <a:t>•  You must plan every case</a:t>
            </a:r>
            <a:endParaRPr b="0" i="0" sz="1300" u="none" cap="none" strike="noStrike">
              <a:solidFill>
                <a:srgbClr val="333333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333333"/>
                </a:solidFill>
                <a:latin typeface="Verdana"/>
                <a:ea typeface="Verdana"/>
                <a:cs typeface="Verdana"/>
                <a:sym typeface="Verdana"/>
              </a:rPr>
              <a:t>Like a train on fixed tracks.</a:t>
            </a:r>
            <a:endParaRPr/>
          </a:p>
        </p:txBody>
      </p:sp>
      <p:sp>
        <p:nvSpPr>
          <p:cNvPr id="110" name="Google Shape;110;p6"/>
          <p:cNvSpPr txBox="1"/>
          <p:nvPr/>
        </p:nvSpPr>
        <p:spPr>
          <a:xfrm>
            <a:off x="4800000" y="950000"/>
            <a:ext cx="3900000" cy="3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683FBE"/>
                </a:solidFill>
                <a:latin typeface="Verdana"/>
                <a:ea typeface="Verdana"/>
                <a:cs typeface="Verdana"/>
                <a:sym typeface="Verdana"/>
              </a:rPr>
              <a:t>Agent (today)</a:t>
            </a:r>
            <a:endParaRPr/>
          </a:p>
        </p:txBody>
      </p:sp>
      <p:sp>
        <p:nvSpPr>
          <p:cNvPr id="111" name="Google Shape;111;p6"/>
          <p:cNvSpPr txBox="1"/>
          <p:nvPr/>
        </p:nvSpPr>
        <p:spPr>
          <a:xfrm>
            <a:off x="4800000" y="1350000"/>
            <a:ext cx="3900000" cy="3400000"/>
          </a:xfrm>
          <a:prstGeom prst="rect">
            <a:avLst/>
          </a:prstGeom>
          <a:solidFill>
            <a:srgbClr val="F4F1FB"/>
          </a:solidFill>
          <a:ln>
            <a:noFill/>
          </a:ln>
        </p:spPr>
        <p:txBody>
          <a:bodyPr anchorCtr="0" anchor="t" bIns="45700" lIns="150000" spcFirstLastPara="1" rIns="150000" wrap="square" tIns="1500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3333"/>
                </a:solidFill>
                <a:latin typeface="Verdana"/>
                <a:ea typeface="Verdana"/>
                <a:cs typeface="Verdana"/>
                <a:sym typeface="Verdana"/>
              </a:rPr>
              <a:t>The AI decides the steps live.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1200" u="none" cap="none" strike="noStrike">
              <a:solidFill>
                <a:srgbClr val="333333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3333"/>
                </a:solidFill>
                <a:latin typeface="Verdana"/>
                <a:ea typeface="Verdana"/>
                <a:cs typeface="Verdana"/>
                <a:sym typeface="Verdana"/>
              </a:rPr>
              <a:t>think → pick a tool → look →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3333"/>
                </a:solidFill>
                <a:latin typeface="Verdana"/>
                <a:ea typeface="Verdana"/>
                <a:cs typeface="Verdana"/>
                <a:sym typeface="Verdana"/>
              </a:rPr>
              <a:t>think again → ... → answer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1200" u="none" cap="none" strike="noStrike">
              <a:solidFill>
                <a:srgbClr val="333333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3333"/>
                </a:solidFill>
                <a:latin typeface="Verdana"/>
                <a:ea typeface="Verdana"/>
                <a:cs typeface="Verdana"/>
                <a:sym typeface="Verdana"/>
              </a:rPr>
              <a:t>Good: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3333"/>
                </a:solidFill>
                <a:latin typeface="Verdana"/>
                <a:ea typeface="Verdana"/>
                <a:cs typeface="Verdana"/>
                <a:sym typeface="Verdana"/>
              </a:rPr>
              <a:t>•  Handles open-ended tasks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3333"/>
                </a:solidFill>
                <a:latin typeface="Verdana"/>
                <a:ea typeface="Verdana"/>
                <a:cs typeface="Verdana"/>
                <a:sym typeface="Verdana"/>
              </a:rPr>
              <a:t>•  Adapts as it learns more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1200" u="none" cap="none" strike="noStrike">
              <a:solidFill>
                <a:srgbClr val="333333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3333"/>
                </a:solidFill>
                <a:latin typeface="Verdana"/>
                <a:ea typeface="Verdana"/>
                <a:cs typeface="Verdana"/>
                <a:sym typeface="Verdana"/>
              </a:rPr>
              <a:t>Bad: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3333"/>
                </a:solidFill>
                <a:latin typeface="Verdana"/>
                <a:ea typeface="Verdana"/>
                <a:cs typeface="Verdana"/>
                <a:sym typeface="Verdana"/>
              </a:rPr>
              <a:t>•  Less predictable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3333"/>
                </a:solidFill>
                <a:latin typeface="Verdana"/>
                <a:ea typeface="Verdana"/>
                <a:cs typeface="Verdana"/>
                <a:sym typeface="Verdana"/>
              </a:rPr>
              <a:t>•  Slower, costs more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1200" u="none" cap="none" strike="noStrike">
              <a:solidFill>
                <a:srgbClr val="333333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3333"/>
                </a:solidFill>
                <a:latin typeface="Verdana"/>
                <a:ea typeface="Verdana"/>
                <a:cs typeface="Verdana"/>
                <a:sym typeface="Verdana"/>
              </a:rPr>
              <a:t>Like a taxi choosing the route.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7"/>
          <p:cNvSpPr txBox="1"/>
          <p:nvPr/>
        </p:nvSpPr>
        <p:spPr>
          <a:xfrm>
            <a:off x="457200" y="228600"/>
            <a:ext cx="8229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683FBE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Agent Architecture — The 4 Parts</a:t>
            </a:r>
            <a:endParaRPr/>
          </a:p>
        </p:txBody>
      </p:sp>
      <p:sp>
        <p:nvSpPr>
          <p:cNvPr id="117" name="Google Shape;117;p7"/>
          <p:cNvSpPr txBox="1"/>
          <p:nvPr/>
        </p:nvSpPr>
        <p:spPr>
          <a:xfrm>
            <a:off x="571500" y="1000000"/>
            <a:ext cx="8000100" cy="39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444444"/>
                </a:solidFill>
                <a:latin typeface="Verdana"/>
                <a:ea typeface="Verdana"/>
                <a:cs typeface="Verdana"/>
                <a:sym typeface="Verdana"/>
              </a:rPr>
              <a:t>Every agent is built from the same four pieces:</a:t>
            </a:r>
            <a:endParaRPr b="0" i="0" sz="1400" u="none" cap="none" strike="noStrike">
              <a:solidFill>
                <a:srgbClr val="444444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3333"/>
                </a:solidFill>
                <a:latin typeface="Verdana"/>
                <a:ea typeface="Verdana"/>
                <a:cs typeface="Verdana"/>
                <a:sym typeface="Verdana"/>
              </a:rPr>
              <a:t>1.  The Brain (the LLM)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444444"/>
                </a:solidFill>
                <a:latin typeface="Verdana"/>
                <a:ea typeface="Verdana"/>
                <a:cs typeface="Verdana"/>
                <a:sym typeface="Verdana"/>
              </a:rPr>
              <a:t>         Reads the goal, thinks, and decides the next action.</a:t>
            </a:r>
            <a:endParaRPr b="0" i="0" sz="1400" u="none" cap="none" strike="noStrike">
              <a:solidFill>
                <a:srgbClr val="444444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3333"/>
                </a:solidFill>
                <a:latin typeface="Verdana"/>
                <a:ea typeface="Verdana"/>
                <a:cs typeface="Verdana"/>
                <a:sym typeface="Verdana"/>
              </a:rPr>
              <a:t>2.  Tools (the hands)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444444"/>
                </a:solidFill>
                <a:latin typeface="Verdana"/>
                <a:ea typeface="Verdana"/>
                <a:cs typeface="Verdana"/>
                <a:sym typeface="Verdana"/>
              </a:rPr>
              <a:t>         Functions it can call: search, calculator, send email, APIs.</a:t>
            </a:r>
            <a:endParaRPr b="0" i="0" sz="1400" u="none" cap="none" strike="noStrike">
              <a:solidFill>
                <a:srgbClr val="444444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3333"/>
                </a:solidFill>
                <a:latin typeface="Verdana"/>
                <a:ea typeface="Verdana"/>
                <a:cs typeface="Verdana"/>
                <a:sym typeface="Verdana"/>
              </a:rPr>
              <a:t>3.  Memory (last session!)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444444"/>
                </a:solidFill>
                <a:latin typeface="Verdana"/>
                <a:ea typeface="Verdana"/>
                <a:cs typeface="Verdana"/>
                <a:sym typeface="Verdana"/>
              </a:rPr>
              <a:t>         Remembers what it has tried and seen so far in this task.</a:t>
            </a:r>
            <a:endParaRPr b="0" i="0" sz="1400" u="none" cap="none" strike="noStrike">
              <a:solidFill>
                <a:srgbClr val="444444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3333"/>
                </a:solidFill>
                <a:latin typeface="Verdana"/>
                <a:ea typeface="Verdana"/>
                <a:cs typeface="Verdana"/>
                <a:sym typeface="Verdana"/>
              </a:rPr>
              <a:t>4.  The Loop / Controller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444444"/>
                </a:solidFill>
                <a:latin typeface="Verdana"/>
                <a:ea typeface="Verdana"/>
                <a:cs typeface="Verdana"/>
                <a:sym typeface="Verdana"/>
              </a:rPr>
              <a:t>         The engine that runs: think → act → observe → repeat,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444444"/>
                </a:solidFill>
                <a:latin typeface="Verdana"/>
                <a:ea typeface="Verdana"/>
                <a:cs typeface="Verdana"/>
                <a:sym typeface="Verdana"/>
              </a:rPr>
              <a:t>         and stops when the goal is met.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444444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333333"/>
                </a:solidFill>
                <a:latin typeface="Verdana"/>
                <a:ea typeface="Verdana"/>
                <a:cs typeface="Verdana"/>
                <a:sym typeface="Verdana"/>
              </a:rPr>
              <a:t>LongChain</a:t>
            </a:r>
            <a:r>
              <a:rPr b="1" i="0" lang="en-US" sz="1500" u="none" cap="none" strike="noStrike">
                <a:solidFill>
                  <a:srgbClr val="333333"/>
                </a:solidFill>
                <a:latin typeface="Verdana"/>
                <a:ea typeface="Verdana"/>
                <a:cs typeface="Verdana"/>
                <a:sym typeface="Verdana"/>
              </a:rPr>
              <a:t> gives you all four out of the box — you just plug them in.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8"/>
          <p:cNvSpPr txBox="1"/>
          <p:nvPr/>
        </p:nvSpPr>
        <p:spPr>
          <a:xfrm>
            <a:off x="457200" y="228600"/>
            <a:ext cx="8229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683FBE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Agent Architecture — Visualized</a:t>
            </a:r>
            <a:endParaRPr/>
          </a:p>
        </p:txBody>
      </p:sp>
      <p:sp>
        <p:nvSpPr>
          <p:cNvPr id="123" name="Google Shape;123;p8"/>
          <p:cNvSpPr/>
          <p:nvPr/>
        </p:nvSpPr>
        <p:spPr>
          <a:xfrm>
            <a:off x="450000" y="1450000"/>
            <a:ext cx="2000000" cy="700000"/>
          </a:xfrm>
          <a:prstGeom prst="roundRect">
            <a:avLst>
              <a:gd fmla="val 16667" name="adj"/>
            </a:avLst>
          </a:prstGeom>
          <a:solidFill>
            <a:srgbClr val="05A98A"/>
          </a:solidFill>
          <a:ln cap="flat" cmpd="sng" w="9525">
            <a:solidFill>
              <a:srgbClr val="05A98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rPr>
              <a:t>GOAL</a:t>
            </a:r>
            <a:br>
              <a:rPr b="1" i="0" lang="en-US" sz="1200" u="none" cap="none" strike="noStrike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b="1" i="0" lang="en-US" sz="1200" u="none" cap="none" strike="noStrike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rPr>
              <a:t>(from user)</a:t>
            </a:r>
            <a:endParaRPr/>
          </a:p>
        </p:txBody>
      </p:sp>
      <p:sp>
        <p:nvSpPr>
          <p:cNvPr id="124" name="Google Shape;124;p8"/>
          <p:cNvSpPr/>
          <p:nvPr/>
        </p:nvSpPr>
        <p:spPr>
          <a:xfrm>
            <a:off x="3550000" y="1350000"/>
            <a:ext cx="2100000" cy="900000"/>
          </a:xfrm>
          <a:prstGeom prst="roundRect">
            <a:avLst>
              <a:gd fmla="val 16667" name="adj"/>
            </a:avLst>
          </a:prstGeom>
          <a:solidFill>
            <a:srgbClr val="683FBE"/>
          </a:solidFill>
          <a:ln cap="flat" cmpd="sng" w="9525">
            <a:solidFill>
              <a:srgbClr val="683FB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rPr>
              <a:t>THE BRAIN</a:t>
            </a:r>
            <a:br>
              <a:rPr b="1" i="0" lang="en-US" sz="1300" u="none" cap="none" strike="noStrike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b="1" i="0" lang="en-US" sz="1300" u="none" cap="none" strike="noStrike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rPr>
              <a:t>(LLM decides)</a:t>
            </a:r>
            <a:endParaRPr/>
          </a:p>
        </p:txBody>
      </p:sp>
      <p:sp>
        <p:nvSpPr>
          <p:cNvPr id="125" name="Google Shape;125;p8"/>
          <p:cNvSpPr/>
          <p:nvPr/>
        </p:nvSpPr>
        <p:spPr>
          <a:xfrm>
            <a:off x="6750000" y="1450000"/>
            <a:ext cx="2000000" cy="700000"/>
          </a:xfrm>
          <a:prstGeom prst="roundRect">
            <a:avLst>
              <a:gd fmla="val 16667" name="adj"/>
            </a:avLst>
          </a:prstGeom>
          <a:solidFill>
            <a:srgbClr val="1E884D"/>
          </a:solidFill>
          <a:ln cap="flat" cmpd="sng" w="9525">
            <a:solidFill>
              <a:srgbClr val="1E884D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rPr>
              <a:t>FINAL ANSWER</a:t>
            </a:r>
            <a:br>
              <a:rPr b="1" i="0" lang="en-US" sz="1200" u="none" cap="none" strike="noStrike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b="1" i="0" lang="en-US" sz="1200" u="none" cap="none" strike="noStrike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rPr>
              <a:t>(to user)</a:t>
            </a:r>
            <a:endParaRPr/>
          </a:p>
        </p:txBody>
      </p:sp>
      <p:cxnSp>
        <p:nvCxnSpPr>
          <p:cNvPr id="126" name="Google Shape;126;p8"/>
          <p:cNvCxnSpPr/>
          <p:nvPr/>
        </p:nvCxnSpPr>
        <p:spPr>
          <a:xfrm>
            <a:off x="2450000" y="1800000"/>
            <a:ext cx="1100000" cy="0"/>
          </a:xfrm>
          <a:prstGeom prst="straightConnector1">
            <a:avLst/>
          </a:prstGeom>
          <a:noFill/>
          <a:ln cap="flat" cmpd="sng" w="254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127" name="Google Shape;127;p8"/>
          <p:cNvCxnSpPr/>
          <p:nvPr/>
        </p:nvCxnSpPr>
        <p:spPr>
          <a:xfrm>
            <a:off x="5650000" y="1800000"/>
            <a:ext cx="1100000" cy="0"/>
          </a:xfrm>
          <a:prstGeom prst="straightConnector1">
            <a:avLst/>
          </a:prstGeom>
          <a:noFill/>
          <a:ln cap="flat" cmpd="sng" w="254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128" name="Google Shape;128;p8"/>
          <p:cNvSpPr/>
          <p:nvPr/>
        </p:nvSpPr>
        <p:spPr>
          <a:xfrm>
            <a:off x="1100000" y="3150000"/>
            <a:ext cx="1500000" cy="620000"/>
          </a:xfrm>
          <a:prstGeom prst="roundRect">
            <a:avLst>
              <a:gd fmla="val 16667" name="adj"/>
            </a:avLst>
          </a:prstGeom>
          <a:solidFill>
            <a:srgbClr val="D46B08"/>
          </a:solidFill>
          <a:ln cap="flat" cmpd="sng" w="9525">
            <a:solidFill>
              <a:srgbClr val="D46B0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rPr>
              <a:t>Search</a:t>
            </a:r>
            <a:endParaRPr/>
          </a:p>
        </p:txBody>
      </p:sp>
      <p:sp>
        <p:nvSpPr>
          <p:cNvPr id="129" name="Google Shape;129;p8"/>
          <p:cNvSpPr/>
          <p:nvPr/>
        </p:nvSpPr>
        <p:spPr>
          <a:xfrm>
            <a:off x="3000000" y="3150000"/>
            <a:ext cx="1500000" cy="620000"/>
          </a:xfrm>
          <a:prstGeom prst="roundRect">
            <a:avLst>
              <a:gd fmla="val 16667" name="adj"/>
            </a:avLst>
          </a:prstGeom>
          <a:solidFill>
            <a:srgbClr val="D46B08"/>
          </a:solidFill>
          <a:ln cap="flat" cmpd="sng" w="9525">
            <a:solidFill>
              <a:srgbClr val="D46B0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rPr>
              <a:t>Calculator</a:t>
            </a:r>
            <a:endParaRPr/>
          </a:p>
        </p:txBody>
      </p:sp>
      <p:sp>
        <p:nvSpPr>
          <p:cNvPr id="130" name="Google Shape;130;p8"/>
          <p:cNvSpPr/>
          <p:nvPr/>
        </p:nvSpPr>
        <p:spPr>
          <a:xfrm>
            <a:off x="4900000" y="3150000"/>
            <a:ext cx="1500000" cy="620000"/>
          </a:xfrm>
          <a:prstGeom prst="roundRect">
            <a:avLst>
              <a:gd fmla="val 16667" name="adj"/>
            </a:avLst>
          </a:prstGeom>
          <a:solidFill>
            <a:srgbClr val="D46B08"/>
          </a:solidFill>
          <a:ln cap="flat" cmpd="sng" w="9525">
            <a:solidFill>
              <a:srgbClr val="D46B0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rPr>
              <a:t>Send email</a:t>
            </a:r>
            <a:endParaRPr/>
          </a:p>
        </p:txBody>
      </p:sp>
      <p:sp>
        <p:nvSpPr>
          <p:cNvPr id="131" name="Google Shape;131;p8"/>
          <p:cNvSpPr/>
          <p:nvPr/>
        </p:nvSpPr>
        <p:spPr>
          <a:xfrm>
            <a:off x="6750000" y="3150000"/>
            <a:ext cx="1700000" cy="620000"/>
          </a:xfrm>
          <a:prstGeom prst="roundRect">
            <a:avLst>
              <a:gd fmla="val 16667" name="adj"/>
            </a:avLst>
          </a:prstGeom>
          <a:solidFill>
            <a:srgbClr val="D46B08"/>
          </a:solidFill>
          <a:ln cap="flat" cmpd="sng" w="9525">
            <a:solidFill>
              <a:srgbClr val="D46B0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rPr>
              <a:t>Database / API</a:t>
            </a:r>
            <a:endParaRPr/>
          </a:p>
        </p:txBody>
      </p:sp>
      <p:cxnSp>
        <p:nvCxnSpPr>
          <p:cNvPr id="132" name="Google Shape;132;p8"/>
          <p:cNvCxnSpPr/>
          <p:nvPr/>
        </p:nvCxnSpPr>
        <p:spPr>
          <a:xfrm flipH="1">
            <a:off x="3750000" y="2250000"/>
            <a:ext cx="650000" cy="900000"/>
          </a:xfrm>
          <a:prstGeom prst="straightConnector1">
            <a:avLst/>
          </a:prstGeom>
          <a:noFill/>
          <a:ln cap="flat" cmpd="sng" w="25400">
            <a:solidFill>
              <a:srgbClr val="C0392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133" name="Google Shape;133;p8"/>
          <p:cNvCxnSpPr/>
          <p:nvPr/>
        </p:nvCxnSpPr>
        <p:spPr>
          <a:xfrm>
            <a:off x="4600000" y="2250000"/>
            <a:ext cx="1050000" cy="900000"/>
          </a:xfrm>
          <a:prstGeom prst="straightConnector1">
            <a:avLst/>
          </a:prstGeom>
          <a:noFill/>
          <a:ln cap="flat" cmpd="sng" w="25400">
            <a:solidFill>
              <a:srgbClr val="C0392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134" name="Google Shape;134;p8"/>
          <p:cNvSpPr txBox="1"/>
          <p:nvPr/>
        </p:nvSpPr>
        <p:spPr>
          <a:xfrm>
            <a:off x="457200" y="4050000"/>
            <a:ext cx="8229600" cy="3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683FBE"/>
                </a:solidFill>
                <a:latin typeface="Verdana"/>
                <a:ea typeface="Verdana"/>
                <a:cs typeface="Verdana"/>
                <a:sym typeface="Verdana"/>
              </a:rPr>
              <a:t>The Brain loops: pick a tool  →  read the result  →  pick the next tool  →  ...  →  answer.</a:t>
            </a:r>
            <a:endParaRPr/>
          </a:p>
        </p:txBody>
      </p:sp>
      <p:sp>
        <p:nvSpPr>
          <p:cNvPr id="135" name="Google Shape;135;p8"/>
          <p:cNvSpPr txBox="1"/>
          <p:nvPr/>
        </p:nvSpPr>
        <p:spPr>
          <a:xfrm>
            <a:off x="457200" y="4400000"/>
            <a:ext cx="82296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595959"/>
                </a:solidFill>
                <a:latin typeface="Verdana"/>
                <a:ea typeface="Verdana"/>
                <a:cs typeface="Verdana"/>
                <a:sym typeface="Verdana"/>
              </a:rPr>
              <a:t>Memory sits beside the Brain, holding everything tried so far.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9"/>
          <p:cNvSpPr txBox="1"/>
          <p:nvPr/>
        </p:nvSpPr>
        <p:spPr>
          <a:xfrm>
            <a:off x="457200" y="228600"/>
            <a:ext cx="8229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683FBE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The Engine: the ReAct Loop</a:t>
            </a:r>
            <a:endParaRPr/>
          </a:p>
        </p:txBody>
      </p:sp>
      <p:sp>
        <p:nvSpPr>
          <p:cNvPr id="141" name="Google Shape;141;p9"/>
          <p:cNvSpPr txBox="1"/>
          <p:nvPr/>
        </p:nvSpPr>
        <p:spPr>
          <a:xfrm>
            <a:off x="571500" y="1050000"/>
            <a:ext cx="8000000" cy="37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333333"/>
                </a:solidFill>
                <a:latin typeface="Verdana"/>
                <a:ea typeface="Verdana"/>
                <a:cs typeface="Verdana"/>
                <a:sym typeface="Verdana"/>
              </a:rPr>
              <a:t>Almost every agent runs the same simple loop, called ReAct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333333"/>
                </a:solidFill>
                <a:latin typeface="Verdana"/>
                <a:ea typeface="Verdana"/>
                <a:cs typeface="Verdana"/>
                <a:sym typeface="Verdana"/>
              </a:rPr>
              <a:t>(short for 'Reason + Act').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1" i="0" sz="1600" u="none" cap="none" strike="noStrike">
              <a:solidFill>
                <a:srgbClr val="333333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683FBE"/>
                </a:solidFill>
                <a:latin typeface="Verdana"/>
                <a:ea typeface="Verdana"/>
                <a:cs typeface="Verdana"/>
                <a:sym typeface="Verdana"/>
              </a:rPr>
              <a:t>Thought   — the AI thinks out loud: 'I need today's weather first.'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D46B08"/>
                </a:solidFill>
                <a:latin typeface="Verdana"/>
                <a:ea typeface="Verdana"/>
                <a:cs typeface="Verdana"/>
                <a:sym typeface="Verdana"/>
              </a:rPr>
              <a:t>Action    — it picks ONE tool to use: search('Delhi weather').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2E86C1"/>
                </a:solidFill>
                <a:latin typeface="Verdana"/>
                <a:ea typeface="Verdana"/>
                <a:cs typeface="Verdana"/>
                <a:sym typeface="Verdana"/>
              </a:rPr>
              <a:t>Observation — it reads the tool's result: '34°C, sunny.'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2E86C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444444"/>
                </a:solidFill>
                <a:latin typeface="Verdana"/>
                <a:ea typeface="Verdana"/>
                <a:cs typeface="Verdana"/>
                <a:sym typeface="Verdana"/>
              </a:rPr>
              <a:t>...then it loops back to Thought and decides the next step.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444444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444444"/>
                </a:solidFill>
                <a:latin typeface="Verdana"/>
                <a:ea typeface="Verdana"/>
                <a:cs typeface="Verdana"/>
                <a:sym typeface="Verdana"/>
              </a:rPr>
              <a:t>It keeps looping — Thought, Action, Observation — until it has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444444"/>
                </a:solidFill>
                <a:latin typeface="Verdana"/>
                <a:ea typeface="Verdana"/>
                <a:cs typeface="Verdana"/>
                <a:sym typeface="Verdana"/>
              </a:rPr>
              <a:t>enough to give the Final Answer.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444444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E884D"/>
                </a:solidFill>
                <a:latin typeface="Verdana"/>
                <a:ea typeface="Verdana"/>
                <a:cs typeface="Verdana"/>
                <a:sym typeface="Verdana"/>
              </a:rPr>
              <a:t>**This think-act-look cycle is the whole secret of how agents work.**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0"/>
          <p:cNvSpPr txBox="1"/>
          <p:nvPr/>
        </p:nvSpPr>
        <p:spPr>
          <a:xfrm>
            <a:off x="457200" y="228600"/>
            <a:ext cx="8229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683FBE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The ReAct Loop — Visualized</a:t>
            </a:r>
            <a:endParaRPr/>
          </a:p>
        </p:txBody>
      </p:sp>
      <p:sp>
        <p:nvSpPr>
          <p:cNvPr id="147" name="Google Shape;147;p10"/>
          <p:cNvSpPr txBox="1"/>
          <p:nvPr/>
        </p:nvSpPr>
        <p:spPr>
          <a:xfrm>
            <a:off x="457200" y="940000"/>
            <a:ext cx="8229600" cy="3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333333"/>
                </a:solidFill>
                <a:latin typeface="Verdana"/>
                <a:ea typeface="Verdana"/>
                <a:cs typeface="Verdana"/>
                <a:sym typeface="Verdana"/>
              </a:rPr>
              <a:t>The agent goes round this circle again and again until the goal is met.</a:t>
            </a:r>
            <a:endParaRPr/>
          </a:p>
        </p:txBody>
      </p:sp>
      <p:sp>
        <p:nvSpPr>
          <p:cNvPr id="148" name="Google Shape;148;p10"/>
          <p:cNvSpPr/>
          <p:nvPr/>
        </p:nvSpPr>
        <p:spPr>
          <a:xfrm>
            <a:off x="1100000" y="1500000"/>
            <a:ext cx="2600000" cy="750000"/>
          </a:xfrm>
          <a:prstGeom prst="roundRect">
            <a:avLst>
              <a:gd fmla="val 16667" name="adj"/>
            </a:avLst>
          </a:prstGeom>
          <a:solidFill>
            <a:srgbClr val="683FBE"/>
          </a:solidFill>
          <a:ln cap="flat" cmpd="sng" w="9525">
            <a:solidFill>
              <a:srgbClr val="683FB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rPr>
              <a:t>1. THOUGHT</a:t>
            </a:r>
            <a:br>
              <a:rPr b="1" i="0" lang="en-US" sz="1200" u="none" cap="none" strike="noStrike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b="1" i="0" lang="en-US" sz="1200" u="none" cap="none" strike="noStrike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rPr>
              <a:t>'What should I do next?'</a:t>
            </a:r>
            <a:endParaRPr/>
          </a:p>
        </p:txBody>
      </p:sp>
      <p:sp>
        <p:nvSpPr>
          <p:cNvPr id="149" name="Google Shape;149;p10"/>
          <p:cNvSpPr/>
          <p:nvPr/>
        </p:nvSpPr>
        <p:spPr>
          <a:xfrm>
            <a:off x="5300000" y="1500000"/>
            <a:ext cx="2600000" cy="750000"/>
          </a:xfrm>
          <a:prstGeom prst="roundRect">
            <a:avLst>
              <a:gd fmla="val 16667" name="adj"/>
            </a:avLst>
          </a:prstGeom>
          <a:solidFill>
            <a:srgbClr val="D46B08"/>
          </a:solidFill>
          <a:ln cap="flat" cmpd="sng" w="9525">
            <a:solidFill>
              <a:srgbClr val="D46B0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rPr>
              <a:t>2. ACTION</a:t>
            </a:r>
            <a:br>
              <a:rPr b="1" i="0" lang="en-US" sz="1200" u="none" cap="none" strike="noStrike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b="1" i="0" lang="en-US" sz="1200" u="none" cap="none" strike="noStrike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rPr>
              <a:t>'Use this tool'</a:t>
            </a:r>
            <a:endParaRPr/>
          </a:p>
        </p:txBody>
      </p:sp>
      <p:sp>
        <p:nvSpPr>
          <p:cNvPr id="150" name="Google Shape;150;p10"/>
          <p:cNvSpPr/>
          <p:nvPr/>
        </p:nvSpPr>
        <p:spPr>
          <a:xfrm>
            <a:off x="5300000" y="3050000"/>
            <a:ext cx="2600000" cy="750000"/>
          </a:xfrm>
          <a:prstGeom prst="roundRect">
            <a:avLst>
              <a:gd fmla="val 16667" name="adj"/>
            </a:avLst>
          </a:prstGeom>
          <a:solidFill>
            <a:srgbClr val="2E86C1"/>
          </a:solidFill>
          <a:ln cap="flat" cmpd="sng" w="9525">
            <a:solidFill>
              <a:srgbClr val="2E86C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rPr>
              <a:t>3. OBSERVATION</a:t>
            </a:r>
            <a:br>
              <a:rPr b="1" i="0" lang="en-US" sz="1200" u="none" cap="none" strike="noStrike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b="1" i="0" lang="en-US" sz="1200" u="none" cap="none" strike="noStrike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rPr>
              <a:t>'Here is the result'</a:t>
            </a:r>
            <a:endParaRPr/>
          </a:p>
        </p:txBody>
      </p:sp>
      <p:sp>
        <p:nvSpPr>
          <p:cNvPr id="151" name="Google Shape;151;p10"/>
          <p:cNvSpPr/>
          <p:nvPr/>
        </p:nvSpPr>
        <p:spPr>
          <a:xfrm>
            <a:off x="1100000" y="3050000"/>
            <a:ext cx="2600000" cy="750000"/>
          </a:xfrm>
          <a:prstGeom prst="roundRect">
            <a:avLst>
              <a:gd fmla="val 16667" name="adj"/>
            </a:avLst>
          </a:prstGeom>
          <a:solidFill>
            <a:srgbClr val="1E884D"/>
          </a:solidFill>
          <a:ln cap="flat" cmpd="sng" w="9525">
            <a:solidFill>
              <a:srgbClr val="1E884D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rPr>
              <a:t>GOAL MET?</a:t>
            </a:r>
            <a:br>
              <a:rPr b="1" i="0" lang="en-US" sz="1200" u="none" cap="none" strike="noStrike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b="1" i="0" lang="en-US" sz="1200" u="none" cap="none" strike="noStrike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rPr>
              <a:t>yes -&gt; answer</a:t>
            </a:r>
            <a:endParaRPr/>
          </a:p>
        </p:txBody>
      </p:sp>
      <p:cxnSp>
        <p:nvCxnSpPr>
          <p:cNvPr id="152" name="Google Shape;152;p10"/>
          <p:cNvCxnSpPr/>
          <p:nvPr/>
        </p:nvCxnSpPr>
        <p:spPr>
          <a:xfrm>
            <a:off x="3700000" y="1875000"/>
            <a:ext cx="1600000" cy="0"/>
          </a:xfrm>
          <a:prstGeom prst="straightConnector1">
            <a:avLst/>
          </a:prstGeom>
          <a:noFill/>
          <a:ln cap="flat" cmpd="sng" w="254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153" name="Google Shape;153;p10"/>
          <p:cNvCxnSpPr/>
          <p:nvPr/>
        </p:nvCxnSpPr>
        <p:spPr>
          <a:xfrm>
            <a:off x="6600000" y="2250000"/>
            <a:ext cx="0" cy="800000"/>
          </a:xfrm>
          <a:prstGeom prst="straightConnector1">
            <a:avLst/>
          </a:prstGeom>
          <a:noFill/>
          <a:ln cap="flat" cmpd="sng" w="254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154" name="Google Shape;154;p10"/>
          <p:cNvCxnSpPr/>
          <p:nvPr/>
        </p:nvCxnSpPr>
        <p:spPr>
          <a:xfrm rot="10800000">
            <a:off x="3700000" y="3425000"/>
            <a:ext cx="1600000" cy="0"/>
          </a:xfrm>
          <a:prstGeom prst="straightConnector1">
            <a:avLst/>
          </a:prstGeom>
          <a:noFill/>
          <a:ln cap="flat" cmpd="sng" w="254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155" name="Google Shape;155;p10"/>
          <p:cNvCxnSpPr/>
          <p:nvPr/>
        </p:nvCxnSpPr>
        <p:spPr>
          <a:xfrm rot="10800000">
            <a:off x="2400000" y="2250000"/>
            <a:ext cx="0" cy="800000"/>
          </a:xfrm>
          <a:prstGeom prst="straightConnector1">
            <a:avLst/>
          </a:prstGeom>
          <a:noFill/>
          <a:ln cap="flat" cmpd="sng" w="25400">
            <a:solidFill>
              <a:srgbClr val="C0392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156" name="Google Shape;156;p10"/>
          <p:cNvSpPr txBox="1"/>
          <p:nvPr/>
        </p:nvSpPr>
        <p:spPr>
          <a:xfrm>
            <a:off x="225200" y="2434600"/>
            <a:ext cx="1921200" cy="4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C0392B"/>
                </a:solidFill>
                <a:latin typeface="Verdana"/>
                <a:ea typeface="Verdana"/>
                <a:cs typeface="Verdana"/>
                <a:sym typeface="Verdana"/>
              </a:rPr>
              <a:t>no -&gt; loop back and think again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11"/>
          <p:cNvSpPr txBox="1"/>
          <p:nvPr/>
        </p:nvSpPr>
        <p:spPr>
          <a:xfrm>
            <a:off x="457200" y="228600"/>
            <a:ext cx="8229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683FBE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Tools — Giving the AI 'Hands'</a:t>
            </a:r>
            <a:endParaRPr/>
          </a:p>
        </p:txBody>
      </p:sp>
      <p:sp>
        <p:nvSpPr>
          <p:cNvPr id="162" name="Google Shape;162;p11"/>
          <p:cNvSpPr txBox="1"/>
          <p:nvPr/>
        </p:nvSpPr>
        <p:spPr>
          <a:xfrm>
            <a:off x="571500" y="1050000"/>
            <a:ext cx="8000000" cy="37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333333"/>
                </a:solidFill>
                <a:latin typeface="Verdana"/>
                <a:ea typeface="Verdana"/>
                <a:cs typeface="Verdana"/>
                <a:sym typeface="Verdana"/>
              </a:rPr>
              <a:t>On its own, an LLM can only produce TEXT. It can't search the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333333"/>
                </a:solidFill>
                <a:latin typeface="Verdana"/>
                <a:ea typeface="Verdana"/>
                <a:cs typeface="Verdana"/>
                <a:sym typeface="Verdana"/>
              </a:rPr>
              <a:t>web, do exact maths, or send an email. It is all brain, no hands.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1" i="0" sz="1600" u="none" cap="none" strike="noStrike">
              <a:solidFill>
                <a:srgbClr val="333333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444444"/>
                </a:solidFill>
                <a:latin typeface="Verdana"/>
                <a:ea typeface="Verdana"/>
                <a:cs typeface="Verdana"/>
                <a:sym typeface="Verdana"/>
              </a:rPr>
              <a:t>A tool is simply a function the agent is allowed to call.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444444"/>
                </a:solidFill>
                <a:latin typeface="Verdana"/>
                <a:ea typeface="Verdana"/>
                <a:cs typeface="Verdana"/>
                <a:sym typeface="Verdana"/>
              </a:rPr>
              <a:t>Each tool has three things the AI needs to know: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595959"/>
                </a:solidFill>
                <a:latin typeface="Verdana"/>
                <a:ea typeface="Verdana"/>
                <a:cs typeface="Verdana"/>
                <a:sym typeface="Verdana"/>
              </a:rPr>
              <a:t>   •  a name             — e.g. 'get_weather'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595959"/>
                </a:solidFill>
                <a:latin typeface="Verdana"/>
                <a:ea typeface="Verdana"/>
                <a:cs typeface="Verdana"/>
                <a:sym typeface="Verdana"/>
              </a:rPr>
              <a:t>   •  a description   — 'returns today's weather for a city'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595959"/>
                </a:solidFill>
                <a:latin typeface="Verdana"/>
                <a:ea typeface="Verdana"/>
                <a:cs typeface="Verdana"/>
                <a:sym typeface="Verdana"/>
              </a:rPr>
              <a:t>   •  inputs               — e.g. city name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1300" u="none" cap="none" strike="noStrike">
              <a:solidFill>
                <a:srgbClr val="595959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683FBE"/>
                </a:solidFill>
                <a:latin typeface="Verdana"/>
                <a:ea typeface="Verdana"/>
                <a:cs typeface="Verdana"/>
                <a:sym typeface="Verdana"/>
              </a:rPr>
              <a:t>The AI reads the DESCRIPTION to decide when to use the tool.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444444"/>
                </a:solidFill>
                <a:latin typeface="Verdana"/>
                <a:ea typeface="Verdana"/>
                <a:cs typeface="Verdana"/>
                <a:sym typeface="Verdana"/>
              </a:rPr>
              <a:t>So write clear descriptions — that's how the agent 'knows' the tool.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444444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1E884D"/>
                </a:solidFill>
                <a:latin typeface="Verdana"/>
                <a:ea typeface="Verdana"/>
                <a:cs typeface="Verdana"/>
                <a:sym typeface="Verdana"/>
              </a:rPr>
              <a:t>Give it good tools and it can do almost anything. That's the power.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12"/>
          <p:cNvSpPr txBox="1"/>
          <p:nvPr/>
        </p:nvSpPr>
        <p:spPr>
          <a:xfrm>
            <a:off x="457200" y="228600"/>
            <a:ext cx="8229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683FBE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Common Tools an Agent Can Use</a:t>
            </a:r>
            <a:endParaRPr/>
          </a:p>
        </p:txBody>
      </p:sp>
      <p:graphicFrame>
        <p:nvGraphicFramePr>
          <p:cNvPr id="168" name="Google Shape;168;p12"/>
          <p:cNvGraphicFramePr/>
          <p:nvPr/>
        </p:nvGraphicFramePr>
        <p:xfrm>
          <a:off x="457200" y="11000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{EEDD338D-75BE-41AA-9DFF-B05E8549D9A4}</a:tableStyleId>
              </a:tblPr>
              <a:tblGrid>
                <a:gridCol w="2743200"/>
                <a:gridCol w="2743200"/>
                <a:gridCol w="2743200"/>
              </a:tblGrid>
              <a:tr h="4142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Tool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683FB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What it does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683FB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Why the LLM needs it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683FBE"/>
                    </a:solidFill>
                  </a:tcPr>
                </a:tc>
              </a:tr>
              <a:tr h="4142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444444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Web search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100" u="none" cap="none" strike="noStrike">
                          <a:solidFill>
                            <a:srgbClr val="444444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Looks up live info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100" u="none" cap="none" strike="noStrike">
                          <a:solidFill>
                            <a:srgbClr val="444444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LLMs don't know today's news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</a:tr>
              <a:tr h="4142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444444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Calculator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8F6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100" u="none" cap="none" strike="noStrike">
                          <a:solidFill>
                            <a:srgbClr val="444444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Does exact maths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8F6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100" u="none" cap="none" strike="noStrike">
                          <a:solidFill>
                            <a:srgbClr val="444444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LLMs are bad at arithmetic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8F6FC"/>
                    </a:solidFill>
                  </a:tcPr>
                </a:tc>
              </a:tr>
              <a:tr h="4142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444444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Database / SQL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100" u="none" cap="none" strike="noStrike">
                          <a:solidFill>
                            <a:srgbClr val="444444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Fetches your data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100" u="none" cap="none" strike="noStrike">
                          <a:solidFill>
                            <a:srgbClr val="444444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LLMs can't see your tables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</a:tr>
              <a:tr h="4142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444444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Send email / Slack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8F6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100" u="none" cap="none" strike="noStrike">
                          <a:solidFill>
                            <a:srgbClr val="444444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Takes an action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8F6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100" u="none" cap="none" strike="noStrike">
                          <a:solidFill>
                            <a:srgbClr val="444444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LLMs can only write text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8F6FC"/>
                    </a:solidFill>
                  </a:tcPr>
                </a:tc>
              </a:tr>
              <a:tr h="4142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444444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Code runner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100" u="none" cap="none" strike="noStrike">
                          <a:solidFill>
                            <a:srgbClr val="444444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Runs a script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100" u="none" cap="none" strike="noStrike">
                          <a:solidFill>
                            <a:srgbClr val="444444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Get real, verified results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</a:tr>
              <a:tr h="414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444444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RAG retriever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8F6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100" u="none" cap="none" strike="noStrike">
                          <a:solidFill>
                            <a:srgbClr val="444444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Reads your docs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8F6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100" u="none" cap="none" strike="noStrike">
                          <a:solidFill>
                            <a:srgbClr val="444444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Bring in private knowledge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8F6FC"/>
                    </a:solidFill>
                  </a:tcPr>
                </a:tc>
              </a:tr>
            </a:tbl>
          </a:graphicData>
        </a:graphic>
      </p:graphicFrame>
      <p:sp>
        <p:nvSpPr>
          <p:cNvPr id="169" name="Google Shape;169;p12"/>
          <p:cNvSpPr txBox="1"/>
          <p:nvPr/>
        </p:nvSpPr>
        <p:spPr>
          <a:xfrm>
            <a:off x="457200" y="4250000"/>
            <a:ext cx="8229600" cy="4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683FBE"/>
                </a:solidFill>
                <a:latin typeface="Verdana"/>
                <a:ea typeface="Verdana"/>
                <a:cs typeface="Verdana"/>
                <a:sym typeface="Verdana"/>
              </a:rPr>
              <a:t>A tool can be ANY function you write — even one that calls your own company's API.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13"/>
          <p:cNvSpPr txBox="1"/>
          <p:nvPr/>
        </p:nvSpPr>
        <p:spPr>
          <a:xfrm>
            <a:off x="457200" y="228600"/>
            <a:ext cx="8229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683FBE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Defining a Tool — It's Just a Python Function</a:t>
            </a:r>
            <a:endParaRPr/>
          </a:p>
        </p:txBody>
      </p:sp>
      <p:sp>
        <p:nvSpPr>
          <p:cNvPr id="175" name="Google Shape;175;p13"/>
          <p:cNvSpPr txBox="1"/>
          <p:nvPr/>
        </p:nvSpPr>
        <p:spPr>
          <a:xfrm>
            <a:off x="457200" y="1050000"/>
            <a:ext cx="8229600" cy="3800000"/>
          </a:xfrm>
          <a:prstGeom prst="rect">
            <a:avLst/>
          </a:prstGeom>
          <a:solidFill>
            <a:srgbClr val="F4F1FB"/>
          </a:solidFill>
          <a:ln>
            <a:noFill/>
          </a:ln>
        </p:spPr>
        <p:txBody>
          <a:bodyPr anchorCtr="0" anchor="t" bIns="45700" lIns="200000" spcFirstLastPara="1" rIns="200000" wrap="square" tIns="1800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683FBE"/>
                </a:solidFill>
                <a:latin typeface="Arial"/>
                <a:ea typeface="Arial"/>
                <a:cs typeface="Arial"/>
                <a:sym typeface="Arial"/>
              </a:rPr>
              <a:t>from langchain_core.tools import tool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1E884D"/>
                </a:solidFill>
                <a:latin typeface="Arial"/>
                <a:ea typeface="Arial"/>
                <a:cs typeface="Arial"/>
                <a:sym typeface="Arial"/>
              </a:rPr>
              <a:t># The @tool line turns a normal function into an agent tool.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@tool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def get_weather(city: str) -&gt; str: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   """Return today's weather for a given city."""   # &lt;- the description!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1E884D"/>
                </a:solidFill>
                <a:latin typeface="Arial"/>
                <a:ea typeface="Arial"/>
                <a:cs typeface="Arial"/>
                <a:sym typeface="Arial"/>
              </a:rPr>
              <a:t>    # (in real life this would call a weather API)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   return f"It is 34C and sunny in {city}."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@tool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def add(a: int, b: int) -&gt; int: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   """Add two numbers and return the result."""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   return a + b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1E884D"/>
                </a:solidFill>
                <a:latin typeface="Arial"/>
                <a:ea typeface="Arial"/>
                <a:cs typeface="Arial"/>
                <a:sym typeface="Arial"/>
              </a:rPr>
              <a:t># That docstring IS what the agent reads to decide when to use it.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1E884D"/>
                </a:solidFill>
                <a:latin typeface="Arial"/>
                <a:ea typeface="Arial"/>
                <a:cs typeface="Arial"/>
                <a:sym typeface="Arial"/>
              </a:rPr>
              <a:t># Clear name + clear description = the agent picks the right tool.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14"/>
          <p:cNvSpPr txBox="1"/>
          <p:nvPr/>
        </p:nvSpPr>
        <p:spPr>
          <a:xfrm>
            <a:off x="457200" y="228600"/>
            <a:ext cx="8229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683FBE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Building the Agent — Brain + Tools + Loop</a:t>
            </a:r>
            <a:endParaRPr/>
          </a:p>
        </p:txBody>
      </p:sp>
      <p:sp>
        <p:nvSpPr>
          <p:cNvPr id="181" name="Google Shape;181;p14"/>
          <p:cNvSpPr txBox="1"/>
          <p:nvPr/>
        </p:nvSpPr>
        <p:spPr>
          <a:xfrm>
            <a:off x="457200" y="1050000"/>
            <a:ext cx="8229600" cy="3800000"/>
          </a:xfrm>
          <a:prstGeom prst="rect">
            <a:avLst/>
          </a:prstGeom>
          <a:solidFill>
            <a:srgbClr val="F4F1FB"/>
          </a:solidFill>
          <a:ln>
            <a:noFill/>
          </a:ln>
        </p:spPr>
        <p:txBody>
          <a:bodyPr anchorCtr="0" anchor="t" bIns="45700" lIns="200000" spcFirstLastPara="1" rIns="200000" wrap="square" tIns="1800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683FBE"/>
                </a:solidFill>
                <a:latin typeface="Arial"/>
                <a:ea typeface="Arial"/>
                <a:cs typeface="Arial"/>
                <a:sym typeface="Arial"/>
              </a:rPr>
              <a:t>from langchain_openai import ChatOpenAI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683FBE"/>
                </a:solidFill>
                <a:latin typeface="Arial"/>
                <a:ea typeface="Arial"/>
                <a:cs typeface="Arial"/>
                <a:sym typeface="Arial"/>
              </a:rPr>
              <a:t>from langgraph.prebuilt import create_react_agent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llm   = ChatOpenAI(model='gpt-4o-mini')   # the brain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tools = [get_weather, add]                # the hands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1E884D"/>
                </a:solidFill>
                <a:latin typeface="Arial"/>
                <a:ea typeface="Arial"/>
                <a:cs typeface="Arial"/>
                <a:sym typeface="Arial"/>
              </a:rPr>
              <a:t># This one line wires the brain + tools into the ReAct loop: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agent = create_react_agent(llm, tools)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1E884D"/>
                </a:solidFill>
                <a:latin typeface="Arial"/>
                <a:ea typeface="Arial"/>
                <a:cs typeface="Arial"/>
                <a:sym typeface="Arial"/>
              </a:rPr>
              <a:t># Now just give it a GOAL — not steps: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result = agent.invoke({'messages': [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   ('user', 'What is the weather in Delhi, and what is 23 + 19?')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]})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print(result['messages'][-1].content)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1E884D"/>
                </a:solidFill>
                <a:latin typeface="Arial"/>
                <a:ea typeface="Arial"/>
                <a:cs typeface="Arial"/>
                <a:sym typeface="Arial"/>
              </a:rPr>
              <a:t># The agent decides: call get_weather, then call add, then answer.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15"/>
          <p:cNvSpPr txBox="1"/>
          <p:nvPr/>
        </p:nvSpPr>
        <p:spPr>
          <a:xfrm>
            <a:off x="457200" y="228600"/>
            <a:ext cx="8229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D46B0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Autonomous Decision-Making — How It Chooses</a:t>
            </a:r>
            <a:endParaRPr/>
          </a:p>
        </p:txBody>
      </p:sp>
      <p:sp>
        <p:nvSpPr>
          <p:cNvPr id="187" name="Google Shape;187;p15"/>
          <p:cNvSpPr txBox="1"/>
          <p:nvPr/>
        </p:nvSpPr>
        <p:spPr>
          <a:xfrm>
            <a:off x="571950" y="1000000"/>
            <a:ext cx="8000100" cy="4017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444444"/>
                </a:solidFill>
                <a:latin typeface="Verdana"/>
                <a:ea typeface="Verdana"/>
                <a:cs typeface="Verdana"/>
                <a:sym typeface="Verdana"/>
              </a:rPr>
              <a:t>'Autonomous' just means: the AI decides for itself, with no human</a:t>
            </a:r>
            <a:endParaRPr sz="1200"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444444"/>
                </a:solidFill>
                <a:latin typeface="Verdana"/>
                <a:ea typeface="Verdana"/>
                <a:cs typeface="Verdana"/>
                <a:sym typeface="Verdana"/>
              </a:rPr>
              <a:t>telling it each step.</a:t>
            </a:r>
            <a:endParaRPr sz="1200">
              <a:solidFill>
                <a:srgbClr val="444444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333333"/>
                </a:solidFill>
                <a:latin typeface="Verdana"/>
                <a:ea typeface="Verdana"/>
                <a:cs typeface="Verdana"/>
                <a:sym typeface="Verdana"/>
              </a:rPr>
              <a:t>At every loop, the brain looks at three things:</a:t>
            </a:r>
            <a:endParaRPr sz="1200"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444444"/>
                </a:solidFill>
                <a:latin typeface="Verdana"/>
                <a:ea typeface="Verdana"/>
                <a:cs typeface="Verdana"/>
                <a:sym typeface="Verdana"/>
              </a:rPr>
              <a:t>   •  the goal  (what am I trying to achieve?)</a:t>
            </a:r>
            <a:endParaRPr sz="1200"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444444"/>
                </a:solidFill>
                <a:latin typeface="Verdana"/>
                <a:ea typeface="Verdana"/>
                <a:cs typeface="Verdana"/>
                <a:sym typeface="Verdana"/>
              </a:rPr>
              <a:t>   •  the tools available  (what can I do?)</a:t>
            </a:r>
            <a:endParaRPr sz="1200"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444444"/>
                </a:solidFill>
                <a:latin typeface="Verdana"/>
                <a:ea typeface="Verdana"/>
                <a:cs typeface="Verdana"/>
                <a:sym typeface="Verdana"/>
              </a:rPr>
              <a:t>   •  what's happened so far  (what do I already know?)</a:t>
            </a:r>
            <a:endParaRPr sz="1200">
              <a:solidFill>
                <a:srgbClr val="444444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333333"/>
                </a:solidFill>
                <a:latin typeface="Verdana"/>
                <a:ea typeface="Verdana"/>
                <a:cs typeface="Verdana"/>
                <a:sym typeface="Verdana"/>
              </a:rPr>
              <a:t>Then it decides ONE of:</a:t>
            </a:r>
            <a:endParaRPr sz="1200"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444444"/>
                </a:solidFill>
                <a:latin typeface="Verdana"/>
                <a:ea typeface="Verdana"/>
                <a:cs typeface="Verdana"/>
                <a:sym typeface="Verdana"/>
              </a:rPr>
              <a:t>   •  'I need more info'   →  pick a tool and use it</a:t>
            </a:r>
            <a:endParaRPr sz="1200"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444444"/>
                </a:solidFill>
                <a:latin typeface="Verdana"/>
                <a:ea typeface="Verdana"/>
                <a:cs typeface="Verdana"/>
                <a:sym typeface="Verdana"/>
              </a:rPr>
              <a:t>   •  'I have enough'        →  stop and give the final answer</a:t>
            </a:r>
            <a:endParaRPr sz="1200"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444444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444444"/>
                </a:solidFill>
                <a:latin typeface="Verdana"/>
                <a:ea typeface="Verdana"/>
                <a:cs typeface="Verdana"/>
                <a:sym typeface="Verdana"/>
              </a:rPr>
              <a:t>It is choosing the next step the way you would — based on what</a:t>
            </a:r>
            <a:endParaRPr sz="1200"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444444"/>
                </a:solidFill>
                <a:latin typeface="Verdana"/>
                <a:ea typeface="Verdana"/>
                <a:cs typeface="Verdana"/>
                <a:sym typeface="Verdana"/>
              </a:rPr>
              <a:t>it has learned so far, not from a fixed script.</a:t>
            </a:r>
            <a:endParaRPr sz="1200">
              <a:solidFill>
                <a:srgbClr val="444444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333333"/>
                </a:solidFill>
                <a:latin typeface="Verdana"/>
                <a:ea typeface="Verdana"/>
                <a:cs typeface="Verdana"/>
                <a:sym typeface="Verdana"/>
              </a:rPr>
              <a:t>This is the difference from a chain: the path is chosen live.</a:t>
            </a:r>
            <a:endParaRPr sz="12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16"/>
          <p:cNvSpPr txBox="1"/>
          <p:nvPr/>
        </p:nvSpPr>
        <p:spPr>
          <a:xfrm>
            <a:off x="457200" y="228600"/>
            <a:ext cx="8229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683FBE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Watch It Think — A Real Trace</a:t>
            </a:r>
            <a:endParaRPr/>
          </a:p>
        </p:txBody>
      </p:sp>
      <p:sp>
        <p:nvSpPr>
          <p:cNvPr id="193" name="Google Shape;193;p16"/>
          <p:cNvSpPr txBox="1"/>
          <p:nvPr/>
        </p:nvSpPr>
        <p:spPr>
          <a:xfrm>
            <a:off x="571500" y="1050000"/>
            <a:ext cx="8000000" cy="37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333333"/>
                </a:solidFill>
                <a:latin typeface="Verdana"/>
                <a:ea typeface="Verdana"/>
                <a:cs typeface="Verdana"/>
                <a:sym typeface="Verdana"/>
              </a:rPr>
              <a:t>Goal: 'What is the weather in Delhi, and what is 23 + 19?'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solidFill>
                <a:srgbClr val="333333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lang="en-US" sz="1300">
                <a:solidFill>
                  <a:srgbClr val="683FBE"/>
                </a:solidFill>
                <a:latin typeface="Verdana"/>
                <a:ea typeface="Verdana"/>
                <a:cs typeface="Verdana"/>
                <a:sym typeface="Verdana"/>
              </a:rPr>
              <a:t>Thought:  I need Delhi's weather. I'll use get_weather.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lang="en-US" sz="1300">
                <a:solidFill>
                  <a:srgbClr val="D46B08"/>
                </a:solidFill>
                <a:latin typeface="Verdana"/>
                <a:ea typeface="Verdana"/>
                <a:cs typeface="Verdana"/>
                <a:sym typeface="Verdana"/>
              </a:rPr>
              <a:t>Action:   get_weather('Delhi')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lang="en-US" sz="1300">
                <a:solidFill>
                  <a:srgbClr val="2E86C1"/>
                </a:solidFill>
                <a:latin typeface="Verdana"/>
                <a:ea typeface="Verdana"/>
                <a:cs typeface="Verdana"/>
                <a:sym typeface="Verdana"/>
              </a:rPr>
              <a:t>Observation:  'It is 34C and sunny in Delhi.'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sz="1300">
              <a:solidFill>
                <a:srgbClr val="2E86C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lang="en-US" sz="1300">
                <a:solidFill>
                  <a:srgbClr val="683FBE"/>
                </a:solidFill>
                <a:latin typeface="Verdana"/>
                <a:ea typeface="Verdana"/>
                <a:cs typeface="Verdana"/>
                <a:sym typeface="Verdana"/>
              </a:rPr>
              <a:t>Thought:  Now I need 23 + 19. I'll use the add tool.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lang="en-US" sz="1300">
                <a:solidFill>
                  <a:srgbClr val="D46B08"/>
                </a:solidFill>
                <a:latin typeface="Verdana"/>
                <a:ea typeface="Verdana"/>
                <a:cs typeface="Verdana"/>
                <a:sym typeface="Verdana"/>
              </a:rPr>
              <a:t>Action:   add(23, 19)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lang="en-US" sz="1300">
                <a:solidFill>
                  <a:srgbClr val="2E86C1"/>
                </a:solidFill>
                <a:latin typeface="Verdana"/>
                <a:ea typeface="Verdana"/>
                <a:cs typeface="Verdana"/>
                <a:sym typeface="Verdana"/>
              </a:rPr>
              <a:t>Observation:  42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sz="1300">
              <a:solidFill>
                <a:srgbClr val="2E86C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lang="en-US" sz="1300">
                <a:solidFill>
                  <a:srgbClr val="683FBE"/>
                </a:solidFill>
                <a:latin typeface="Verdana"/>
                <a:ea typeface="Verdana"/>
                <a:cs typeface="Verdana"/>
                <a:sym typeface="Verdana"/>
              </a:rPr>
              <a:t>Thought:  I now have both answers. I'm done.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1E884D"/>
                </a:solidFill>
                <a:latin typeface="Verdana"/>
                <a:ea typeface="Verdana"/>
                <a:cs typeface="Verdana"/>
                <a:sym typeface="Verdana"/>
              </a:rPr>
              <a:t>Final Answer:  'It's 34C and sunny in Delhi, and 23 + 19 = 42.'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1" sz="1400">
              <a:solidFill>
                <a:srgbClr val="1E884D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683FBE"/>
                </a:solidFill>
                <a:latin typeface="Verdana"/>
                <a:ea typeface="Verdana"/>
                <a:cs typeface="Verdana"/>
                <a:sym typeface="Verdana"/>
              </a:rPr>
              <a:t>Notice: WE never said 'call weather then call add'. The agent did.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7"/>
          <p:cNvSpPr txBox="1"/>
          <p:nvPr/>
        </p:nvSpPr>
        <p:spPr>
          <a:xfrm>
            <a:off x="457200" y="228600"/>
            <a:ext cx="8229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1E884D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Practical Use Cases — Where Agents Shine</a:t>
            </a:r>
            <a:endParaRPr/>
          </a:p>
        </p:txBody>
      </p:sp>
      <p:sp>
        <p:nvSpPr>
          <p:cNvPr id="199" name="Google Shape;199;p17"/>
          <p:cNvSpPr txBox="1"/>
          <p:nvPr/>
        </p:nvSpPr>
        <p:spPr>
          <a:xfrm>
            <a:off x="571500" y="1000000"/>
            <a:ext cx="8000100" cy="39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333333"/>
                </a:solidFill>
                <a:latin typeface="Verdana"/>
                <a:ea typeface="Verdana"/>
                <a:cs typeface="Verdana"/>
                <a:sym typeface="Verdana"/>
              </a:rPr>
              <a:t>•  Customer support agent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444444"/>
                </a:solidFill>
                <a:latin typeface="Verdana"/>
                <a:ea typeface="Verdana"/>
                <a:cs typeface="Verdana"/>
                <a:sym typeface="Verdana"/>
              </a:rPr>
              <a:t>       Reads the ticket, looks up the order, issues a refund, replies.</a:t>
            </a:r>
            <a:endParaRPr sz="1400">
              <a:solidFill>
                <a:srgbClr val="444444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333333"/>
                </a:solidFill>
                <a:latin typeface="Verdana"/>
                <a:ea typeface="Verdana"/>
                <a:cs typeface="Verdana"/>
                <a:sym typeface="Verdana"/>
              </a:rPr>
              <a:t>•  Research assistant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444444"/>
                </a:solidFill>
                <a:latin typeface="Verdana"/>
                <a:ea typeface="Verdana"/>
                <a:cs typeface="Verdana"/>
                <a:sym typeface="Verdana"/>
              </a:rPr>
              <a:t>       Searches many sources, compares them, writes a summary.</a:t>
            </a:r>
            <a:endParaRPr sz="1400">
              <a:solidFill>
                <a:srgbClr val="444444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333333"/>
                </a:solidFill>
                <a:latin typeface="Verdana"/>
                <a:ea typeface="Verdana"/>
                <a:cs typeface="Verdana"/>
                <a:sym typeface="Verdana"/>
              </a:rPr>
              <a:t>•  Coding agent (like Claude Code / Cursor)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444444"/>
                </a:solidFill>
                <a:latin typeface="Verdana"/>
                <a:ea typeface="Verdana"/>
                <a:cs typeface="Verdana"/>
                <a:sym typeface="Verdana"/>
              </a:rPr>
              <a:t>       Reads your repo, edits files, runs tests, fixes the errors.</a:t>
            </a:r>
            <a:endParaRPr sz="1400">
              <a:solidFill>
                <a:srgbClr val="444444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333333"/>
                </a:solidFill>
                <a:latin typeface="Verdana"/>
                <a:ea typeface="Verdana"/>
                <a:cs typeface="Verdana"/>
                <a:sym typeface="Verdana"/>
              </a:rPr>
              <a:t>•  Data analyst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444444"/>
                </a:solidFill>
                <a:latin typeface="Verdana"/>
                <a:ea typeface="Verdana"/>
                <a:cs typeface="Verdana"/>
                <a:sym typeface="Verdana"/>
              </a:rPr>
              <a:t>       Writes SQL, runs it, charts the result, explains it in words.</a:t>
            </a:r>
            <a:endParaRPr sz="1400">
              <a:solidFill>
                <a:srgbClr val="444444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333333"/>
                </a:solidFill>
                <a:latin typeface="Verdana"/>
                <a:ea typeface="Verdana"/>
                <a:cs typeface="Verdana"/>
                <a:sym typeface="Verdana"/>
              </a:rPr>
              <a:t>•  Ops / DevOps helper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444444"/>
                </a:solidFill>
                <a:latin typeface="Verdana"/>
                <a:ea typeface="Verdana"/>
                <a:cs typeface="Verdana"/>
                <a:sym typeface="Verdana"/>
              </a:rPr>
              <a:t>       Checks logs, spots the failing service, opens a ticket.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444444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444444"/>
                </a:solidFill>
                <a:latin typeface="Verdana"/>
                <a:ea typeface="Verdana"/>
                <a:cs typeface="Verdana"/>
                <a:sym typeface="Verdana"/>
              </a:rPr>
              <a:t>Common thread: a GOAL + several TOOLS + steps that aren't fixed.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18"/>
          <p:cNvSpPr txBox="1"/>
          <p:nvPr/>
        </p:nvSpPr>
        <p:spPr>
          <a:xfrm>
            <a:off x="457200" y="228600"/>
            <a:ext cx="8229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00">
                <a:solidFill>
                  <a:srgbClr val="683FBE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 Real Agent — The 'Review Pulse' (Your Capstone)</a:t>
            </a:r>
            <a:endParaRPr/>
          </a:p>
        </p:txBody>
      </p:sp>
      <p:sp>
        <p:nvSpPr>
          <p:cNvPr id="205" name="Google Shape;205;p18"/>
          <p:cNvSpPr txBox="1"/>
          <p:nvPr/>
        </p:nvSpPr>
        <p:spPr>
          <a:xfrm>
            <a:off x="457200" y="940000"/>
            <a:ext cx="8229600" cy="3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333333"/>
                </a:solidFill>
                <a:latin typeface="Verdana"/>
                <a:ea typeface="Verdana"/>
                <a:cs typeface="Verdana"/>
                <a:sym typeface="Verdana"/>
              </a:rPr>
              <a:t>Goal: 'Summarize this week's app-store reviews and email the team a report.'</a:t>
            </a:r>
            <a:endParaRPr/>
          </a:p>
        </p:txBody>
      </p:sp>
      <p:sp>
        <p:nvSpPr>
          <p:cNvPr id="206" name="Google Shape;206;p18"/>
          <p:cNvSpPr/>
          <p:nvPr/>
        </p:nvSpPr>
        <p:spPr>
          <a:xfrm>
            <a:off x="450000" y="1550000"/>
            <a:ext cx="1850000" cy="650000"/>
          </a:xfrm>
          <a:prstGeom prst="roundRect">
            <a:avLst>
              <a:gd fmla="val 16667" name="adj"/>
            </a:avLst>
          </a:prstGeom>
          <a:solidFill>
            <a:srgbClr val="05A98A"/>
          </a:solidFill>
          <a:ln cap="flat" cmpd="sng" w="9525">
            <a:solidFill>
              <a:srgbClr val="05A98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rPr>
              <a:t>Fetch reviews</a:t>
            </a:r>
            <a:br>
              <a:rPr b="1" lang="en-US" sz="1200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b="1" lang="en-US" sz="1200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rPr>
              <a:t>(tool)</a:t>
            </a:r>
            <a:endParaRPr/>
          </a:p>
        </p:txBody>
      </p:sp>
      <p:sp>
        <p:nvSpPr>
          <p:cNvPr id="207" name="Google Shape;207;p18"/>
          <p:cNvSpPr/>
          <p:nvPr/>
        </p:nvSpPr>
        <p:spPr>
          <a:xfrm>
            <a:off x="2600000" y="1550000"/>
            <a:ext cx="1850000" cy="650000"/>
          </a:xfrm>
          <a:prstGeom prst="roundRect">
            <a:avLst>
              <a:gd fmla="val 16667" name="adj"/>
            </a:avLst>
          </a:prstGeom>
          <a:solidFill>
            <a:srgbClr val="683FBE"/>
          </a:solidFill>
          <a:ln cap="flat" cmpd="sng" w="9525">
            <a:solidFill>
              <a:srgbClr val="683FB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rPr>
              <a:t>Group &amp; rank</a:t>
            </a:r>
            <a:br>
              <a:rPr b="1" lang="en-US" sz="1200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b="1" lang="en-US" sz="1200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rPr>
              <a:t>(reason)</a:t>
            </a:r>
            <a:endParaRPr/>
          </a:p>
        </p:txBody>
      </p:sp>
      <p:sp>
        <p:nvSpPr>
          <p:cNvPr id="208" name="Google Shape;208;p18"/>
          <p:cNvSpPr/>
          <p:nvPr/>
        </p:nvSpPr>
        <p:spPr>
          <a:xfrm>
            <a:off x="4750000" y="1550000"/>
            <a:ext cx="1850000" cy="650000"/>
          </a:xfrm>
          <a:prstGeom prst="roundRect">
            <a:avLst>
              <a:gd fmla="val 16667" name="adj"/>
            </a:avLst>
          </a:prstGeom>
          <a:solidFill>
            <a:srgbClr val="683FBE"/>
          </a:solidFill>
          <a:ln cap="flat" cmpd="sng" w="9525">
            <a:solidFill>
              <a:srgbClr val="683FB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rPr>
              <a:t>Write summary</a:t>
            </a:r>
            <a:br>
              <a:rPr b="1" lang="en-US" sz="1200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b="1" lang="en-US" sz="1200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rPr>
              <a:t>(reason)</a:t>
            </a:r>
            <a:endParaRPr/>
          </a:p>
        </p:txBody>
      </p:sp>
      <p:sp>
        <p:nvSpPr>
          <p:cNvPr id="209" name="Google Shape;209;p18"/>
          <p:cNvSpPr/>
          <p:nvPr/>
        </p:nvSpPr>
        <p:spPr>
          <a:xfrm>
            <a:off x="6900000" y="1550000"/>
            <a:ext cx="1800000" cy="650000"/>
          </a:xfrm>
          <a:prstGeom prst="roundRect">
            <a:avLst>
              <a:gd fmla="val 16667" name="adj"/>
            </a:avLst>
          </a:prstGeom>
          <a:solidFill>
            <a:srgbClr val="D46B08"/>
          </a:solidFill>
          <a:ln cap="flat" cmpd="sng" w="9525">
            <a:solidFill>
              <a:srgbClr val="D46B0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rPr>
              <a:t>Pull real quotes</a:t>
            </a:r>
            <a:br>
              <a:rPr b="1" lang="en-US" sz="1200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b="1" lang="en-US" sz="1200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rPr>
              <a:t>(tool)</a:t>
            </a:r>
            <a:endParaRPr/>
          </a:p>
        </p:txBody>
      </p:sp>
      <p:cxnSp>
        <p:nvCxnSpPr>
          <p:cNvPr id="210" name="Google Shape;210;p18"/>
          <p:cNvCxnSpPr/>
          <p:nvPr/>
        </p:nvCxnSpPr>
        <p:spPr>
          <a:xfrm>
            <a:off x="2300000" y="1875000"/>
            <a:ext cx="300000" cy="0"/>
          </a:xfrm>
          <a:prstGeom prst="straightConnector1">
            <a:avLst/>
          </a:prstGeom>
          <a:noFill/>
          <a:ln cap="flat" cmpd="sng" w="254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211" name="Google Shape;211;p18"/>
          <p:cNvCxnSpPr/>
          <p:nvPr/>
        </p:nvCxnSpPr>
        <p:spPr>
          <a:xfrm>
            <a:off x="4450000" y="1875000"/>
            <a:ext cx="300000" cy="0"/>
          </a:xfrm>
          <a:prstGeom prst="straightConnector1">
            <a:avLst/>
          </a:prstGeom>
          <a:noFill/>
          <a:ln cap="flat" cmpd="sng" w="254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212" name="Google Shape;212;p18"/>
          <p:cNvCxnSpPr/>
          <p:nvPr/>
        </p:nvCxnSpPr>
        <p:spPr>
          <a:xfrm>
            <a:off x="6600000" y="1875000"/>
            <a:ext cx="300000" cy="0"/>
          </a:xfrm>
          <a:prstGeom prst="straightConnector1">
            <a:avLst/>
          </a:prstGeom>
          <a:noFill/>
          <a:ln cap="flat" cmpd="sng" w="254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213" name="Google Shape;213;p18"/>
          <p:cNvSpPr/>
          <p:nvPr/>
        </p:nvSpPr>
        <p:spPr>
          <a:xfrm>
            <a:off x="2600000" y="3050000"/>
            <a:ext cx="1850000" cy="650000"/>
          </a:xfrm>
          <a:prstGeom prst="roundRect">
            <a:avLst>
              <a:gd fmla="val 16667" name="adj"/>
            </a:avLst>
          </a:prstGeom>
          <a:solidFill>
            <a:srgbClr val="1E884D"/>
          </a:solidFill>
          <a:ln cap="flat" cmpd="sng" w="9525">
            <a:solidFill>
              <a:srgbClr val="1E884D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rPr>
              <a:t>Save to Google Doc</a:t>
            </a:r>
            <a:br>
              <a:rPr b="1" lang="en-US" sz="1200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b="1" lang="en-US" sz="1200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rPr>
              <a:t>(MCP tool)</a:t>
            </a:r>
            <a:endParaRPr/>
          </a:p>
        </p:txBody>
      </p:sp>
      <p:sp>
        <p:nvSpPr>
          <p:cNvPr id="214" name="Google Shape;214;p18"/>
          <p:cNvSpPr/>
          <p:nvPr/>
        </p:nvSpPr>
        <p:spPr>
          <a:xfrm>
            <a:off x="4750000" y="3050000"/>
            <a:ext cx="1850000" cy="650000"/>
          </a:xfrm>
          <a:prstGeom prst="roundRect">
            <a:avLst>
              <a:gd fmla="val 16667" name="adj"/>
            </a:avLst>
          </a:prstGeom>
          <a:solidFill>
            <a:srgbClr val="1E884D"/>
          </a:solidFill>
          <a:ln cap="flat" cmpd="sng" w="9525">
            <a:solidFill>
              <a:srgbClr val="1E884D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rPr>
              <a:t>Email the team</a:t>
            </a:r>
            <a:br>
              <a:rPr b="1" lang="en-US" sz="1200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b="1" lang="en-US" sz="1200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rPr>
              <a:t>(MCP tool)</a:t>
            </a:r>
            <a:endParaRPr/>
          </a:p>
        </p:txBody>
      </p:sp>
      <p:cxnSp>
        <p:nvCxnSpPr>
          <p:cNvPr id="215" name="Google Shape;215;p18"/>
          <p:cNvCxnSpPr/>
          <p:nvPr/>
        </p:nvCxnSpPr>
        <p:spPr>
          <a:xfrm flipH="1">
            <a:off x="3525000" y="2200000"/>
            <a:ext cx="3475000" cy="850000"/>
          </a:xfrm>
          <a:prstGeom prst="straightConnector1">
            <a:avLst/>
          </a:prstGeom>
          <a:noFill/>
          <a:ln cap="flat" cmpd="sng" w="254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216" name="Google Shape;216;p18"/>
          <p:cNvCxnSpPr/>
          <p:nvPr/>
        </p:nvCxnSpPr>
        <p:spPr>
          <a:xfrm>
            <a:off x="4450000" y="3375000"/>
            <a:ext cx="300000" cy="0"/>
          </a:xfrm>
          <a:prstGeom prst="straightConnector1">
            <a:avLst/>
          </a:prstGeom>
          <a:noFill/>
          <a:ln cap="flat" cmpd="sng" w="254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217" name="Google Shape;217;p18"/>
          <p:cNvSpPr txBox="1"/>
          <p:nvPr/>
        </p:nvSpPr>
        <p:spPr>
          <a:xfrm>
            <a:off x="457200" y="4350000"/>
            <a:ext cx="8229600" cy="3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683FBE"/>
                </a:solidFill>
                <a:latin typeface="Verdana"/>
                <a:ea typeface="Verdana"/>
                <a:cs typeface="Verdana"/>
                <a:sym typeface="Verdana"/>
              </a:rPr>
              <a:t>Same agent idea: a goal, a set of tools, and the agent runs the steps. (Next sessions: control it + MCP.)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19"/>
          <p:cNvSpPr txBox="1"/>
          <p:nvPr/>
        </p:nvSpPr>
        <p:spPr>
          <a:xfrm>
            <a:off x="457200" y="228600"/>
            <a:ext cx="8229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683FBE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When To Use an Agent — and When NOT To</a:t>
            </a:r>
            <a:endParaRPr/>
          </a:p>
        </p:txBody>
      </p:sp>
      <p:sp>
        <p:nvSpPr>
          <p:cNvPr id="223" name="Google Shape;223;p19"/>
          <p:cNvSpPr txBox="1"/>
          <p:nvPr/>
        </p:nvSpPr>
        <p:spPr>
          <a:xfrm>
            <a:off x="457200" y="950000"/>
            <a:ext cx="3900000" cy="3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2E86C1"/>
                </a:solidFill>
                <a:latin typeface="Verdana"/>
                <a:ea typeface="Verdana"/>
                <a:cs typeface="Verdana"/>
                <a:sym typeface="Verdana"/>
              </a:rPr>
              <a:t>Use a simple CHAIN when...</a:t>
            </a:r>
            <a:endParaRPr/>
          </a:p>
        </p:txBody>
      </p:sp>
      <p:sp>
        <p:nvSpPr>
          <p:cNvPr id="224" name="Google Shape;224;p19"/>
          <p:cNvSpPr txBox="1"/>
          <p:nvPr/>
        </p:nvSpPr>
        <p:spPr>
          <a:xfrm>
            <a:off x="457200" y="1350000"/>
            <a:ext cx="3900000" cy="3400000"/>
          </a:xfrm>
          <a:prstGeom prst="rect">
            <a:avLst/>
          </a:prstGeom>
          <a:solidFill>
            <a:srgbClr val="ECF3FA"/>
          </a:solidFill>
          <a:ln>
            <a:noFill/>
          </a:ln>
        </p:spPr>
        <p:txBody>
          <a:bodyPr anchorCtr="0" anchor="t" bIns="45700" lIns="150000" spcFirstLastPara="1" rIns="150000" wrap="square" tIns="1500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333333"/>
                </a:solidFill>
                <a:latin typeface="Verdana"/>
                <a:ea typeface="Verdana"/>
                <a:cs typeface="Verdana"/>
                <a:sym typeface="Verdana"/>
              </a:rPr>
              <a:t>The steps are always the same.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rgbClr val="333333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333333"/>
                </a:solidFill>
                <a:latin typeface="Verdana"/>
                <a:ea typeface="Verdana"/>
                <a:cs typeface="Verdana"/>
                <a:sym typeface="Verdana"/>
              </a:rPr>
              <a:t>•  'Summarize, then translate'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333333"/>
                </a:solidFill>
                <a:latin typeface="Verdana"/>
                <a:ea typeface="Verdana"/>
                <a:cs typeface="Verdana"/>
                <a:sym typeface="Verdana"/>
              </a:rPr>
              <a:t>•  'Extract fields from a form'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333333"/>
                </a:solidFill>
                <a:latin typeface="Verdana"/>
                <a:ea typeface="Verdana"/>
                <a:cs typeface="Verdana"/>
                <a:sym typeface="Verdana"/>
              </a:rPr>
              <a:t>•  'Answer from these docs' (RAG)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rgbClr val="333333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333333"/>
                </a:solidFill>
                <a:latin typeface="Verdana"/>
                <a:ea typeface="Verdana"/>
                <a:cs typeface="Verdana"/>
                <a:sym typeface="Verdana"/>
              </a:rPr>
              <a:t>Why: predictable, cheaper, faster,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333333"/>
                </a:solidFill>
                <a:latin typeface="Verdana"/>
                <a:ea typeface="Verdana"/>
                <a:cs typeface="Verdana"/>
                <a:sym typeface="Verdana"/>
              </a:rPr>
              <a:t>easier to test and trust.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rgbClr val="333333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333333"/>
                </a:solidFill>
                <a:latin typeface="Verdana"/>
                <a:ea typeface="Verdana"/>
                <a:cs typeface="Verdana"/>
                <a:sym typeface="Verdana"/>
              </a:rPr>
              <a:t>Rule: if you can draw the flow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333333"/>
                </a:solidFill>
                <a:latin typeface="Verdana"/>
                <a:ea typeface="Verdana"/>
                <a:cs typeface="Verdana"/>
                <a:sym typeface="Verdana"/>
              </a:rPr>
              <a:t>in advance, you don't need an agent.</a:t>
            </a:r>
            <a:endParaRPr/>
          </a:p>
        </p:txBody>
      </p:sp>
      <p:sp>
        <p:nvSpPr>
          <p:cNvPr id="225" name="Google Shape;225;p19"/>
          <p:cNvSpPr txBox="1"/>
          <p:nvPr/>
        </p:nvSpPr>
        <p:spPr>
          <a:xfrm>
            <a:off x="4800000" y="950000"/>
            <a:ext cx="3900000" cy="3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683FBE"/>
                </a:solidFill>
                <a:latin typeface="Verdana"/>
                <a:ea typeface="Verdana"/>
                <a:cs typeface="Verdana"/>
                <a:sym typeface="Verdana"/>
              </a:rPr>
              <a:t>Use an AGENT when...</a:t>
            </a:r>
            <a:endParaRPr/>
          </a:p>
        </p:txBody>
      </p:sp>
      <p:sp>
        <p:nvSpPr>
          <p:cNvPr id="226" name="Google Shape;226;p19"/>
          <p:cNvSpPr txBox="1"/>
          <p:nvPr/>
        </p:nvSpPr>
        <p:spPr>
          <a:xfrm>
            <a:off x="4800000" y="1350000"/>
            <a:ext cx="3900000" cy="3400000"/>
          </a:xfrm>
          <a:prstGeom prst="rect">
            <a:avLst/>
          </a:prstGeom>
          <a:solidFill>
            <a:srgbClr val="F4F1FB"/>
          </a:solidFill>
          <a:ln>
            <a:noFill/>
          </a:ln>
        </p:spPr>
        <p:txBody>
          <a:bodyPr anchorCtr="0" anchor="t" bIns="45700" lIns="150000" spcFirstLastPara="1" rIns="150000" wrap="square" tIns="1500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333333"/>
                </a:solidFill>
                <a:latin typeface="Verdana"/>
                <a:ea typeface="Verdana"/>
                <a:cs typeface="Verdana"/>
                <a:sym typeface="Verdana"/>
              </a:rPr>
              <a:t>The steps depend on what's found.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333333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333333"/>
                </a:solidFill>
                <a:latin typeface="Verdana"/>
                <a:ea typeface="Verdana"/>
                <a:cs typeface="Verdana"/>
                <a:sym typeface="Verdana"/>
              </a:rPr>
              <a:t>•  'Investigate why X failed'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333333"/>
                </a:solidFill>
                <a:latin typeface="Verdana"/>
                <a:ea typeface="Verdana"/>
                <a:cs typeface="Verdana"/>
                <a:sym typeface="Verdana"/>
              </a:rPr>
              <a:t>•  'Plan and book my trip'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333333"/>
                </a:solidFill>
                <a:latin typeface="Verdana"/>
                <a:ea typeface="Verdana"/>
                <a:cs typeface="Verdana"/>
                <a:sym typeface="Verdana"/>
              </a:rPr>
              <a:t>•  'Research this and report back'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333333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333333"/>
                </a:solidFill>
                <a:latin typeface="Verdana"/>
                <a:ea typeface="Verdana"/>
                <a:cs typeface="Verdana"/>
                <a:sym typeface="Verdana"/>
              </a:rPr>
              <a:t>Why: the path isn't known up front;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333333"/>
                </a:solidFill>
                <a:latin typeface="Verdana"/>
                <a:ea typeface="Verdana"/>
                <a:cs typeface="Verdana"/>
                <a:sym typeface="Verdana"/>
              </a:rPr>
              <a:t>the AI must adapt as it goes.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333333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333333"/>
                </a:solidFill>
                <a:latin typeface="Verdana"/>
                <a:ea typeface="Verdana"/>
                <a:cs typeface="Verdana"/>
                <a:sym typeface="Verdana"/>
              </a:rPr>
              <a:t>Rule: reach for an agent only when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333333"/>
                </a:solidFill>
                <a:latin typeface="Verdana"/>
                <a:ea typeface="Verdana"/>
                <a:cs typeface="Verdana"/>
                <a:sym typeface="Verdana"/>
              </a:rPr>
              <a:t>a fixed flow truly can't do the job.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20"/>
          <p:cNvSpPr txBox="1"/>
          <p:nvPr/>
        </p:nvSpPr>
        <p:spPr>
          <a:xfrm>
            <a:off x="457200" y="228600"/>
            <a:ext cx="8229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683FBE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When Agents Go Wrong — and Guardrails</a:t>
            </a:r>
            <a:endParaRPr/>
          </a:p>
        </p:txBody>
      </p:sp>
      <p:sp>
        <p:nvSpPr>
          <p:cNvPr id="232" name="Google Shape;232;p20"/>
          <p:cNvSpPr txBox="1"/>
          <p:nvPr/>
        </p:nvSpPr>
        <p:spPr>
          <a:xfrm>
            <a:off x="571500" y="1050000"/>
            <a:ext cx="8000000" cy="37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333333"/>
                </a:solidFill>
                <a:latin typeface="Verdana"/>
                <a:ea typeface="Verdana"/>
                <a:cs typeface="Verdana"/>
                <a:sym typeface="Verdana"/>
              </a:rPr>
              <a:t>Freedom is powerful but risky. Common failures: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rgbClr val="333333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lang="en-US" sz="1400">
                <a:solidFill>
                  <a:srgbClr val="C0392B"/>
                </a:solidFill>
                <a:latin typeface="Verdana"/>
                <a:ea typeface="Verdana"/>
                <a:cs typeface="Verdana"/>
                <a:sym typeface="Verdana"/>
              </a:rPr>
              <a:t>•  Infinite loops — it keeps trying and never stops.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lang="en-US" sz="1400">
                <a:solidFill>
                  <a:srgbClr val="C0392B"/>
                </a:solidFill>
                <a:latin typeface="Verdana"/>
                <a:ea typeface="Verdana"/>
                <a:cs typeface="Verdana"/>
                <a:sym typeface="Verdana"/>
              </a:rPr>
              <a:t>•  Wrong tool / made-up tool — picks a tool that doesn't fit.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lang="en-US" sz="1400">
                <a:solidFill>
                  <a:srgbClr val="C0392B"/>
                </a:solidFill>
                <a:latin typeface="Verdana"/>
                <a:ea typeface="Verdana"/>
                <a:cs typeface="Verdana"/>
                <a:sym typeface="Verdana"/>
              </a:rPr>
              <a:t>•  Runaway cost — every loop is another paid LLM call.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lang="en-US" sz="1400">
                <a:solidFill>
                  <a:srgbClr val="C0392B"/>
                </a:solidFill>
                <a:latin typeface="Verdana"/>
                <a:ea typeface="Verdana"/>
                <a:cs typeface="Verdana"/>
                <a:sym typeface="Verdana"/>
              </a:rPr>
              <a:t>•  Dangerous actions — deletes data, sends a wrong email.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sz="1400">
              <a:solidFill>
                <a:srgbClr val="C0392B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1E884D"/>
                </a:solidFill>
                <a:latin typeface="Verdana"/>
                <a:ea typeface="Verdana"/>
                <a:cs typeface="Verdana"/>
                <a:sym typeface="Verdana"/>
              </a:rPr>
              <a:t>Guardrails (we'll go deeper next session):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lang="en-US" sz="1300">
                <a:solidFill>
                  <a:srgbClr val="444444"/>
                </a:solidFill>
                <a:latin typeface="Verdana"/>
                <a:ea typeface="Verdana"/>
                <a:cs typeface="Verdana"/>
                <a:sym typeface="Verdana"/>
              </a:rPr>
              <a:t>   •  Max steps limit — stop after, say, 10 loops.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lang="en-US" sz="1300">
                <a:solidFill>
                  <a:srgbClr val="444444"/>
                </a:solidFill>
                <a:latin typeface="Verdana"/>
                <a:ea typeface="Verdana"/>
                <a:cs typeface="Verdana"/>
                <a:sym typeface="Verdana"/>
              </a:rPr>
              <a:t>   •  Human approval — confirm before risky actions (e.g. send email).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lang="en-US" sz="1300">
                <a:solidFill>
                  <a:srgbClr val="444444"/>
                </a:solidFill>
                <a:latin typeface="Verdana"/>
                <a:ea typeface="Verdana"/>
                <a:cs typeface="Verdana"/>
                <a:sym typeface="Verdana"/>
              </a:rPr>
              <a:t>   •  Limited tools — only give the tools it truly needs.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lang="en-US" sz="1300">
                <a:solidFill>
                  <a:srgbClr val="444444"/>
                </a:solidFill>
                <a:latin typeface="Verdana"/>
                <a:ea typeface="Verdana"/>
                <a:cs typeface="Verdana"/>
                <a:sym typeface="Verdana"/>
              </a:rPr>
              <a:t>   •  Logging — record every Thought/Action so you can debug.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21"/>
          <p:cNvSpPr txBox="1"/>
          <p:nvPr/>
        </p:nvSpPr>
        <p:spPr>
          <a:xfrm>
            <a:off x="457200" y="228600"/>
            <a:ext cx="8229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683FBE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Do's and Don'ts — Building Agents</a:t>
            </a:r>
            <a:endParaRPr/>
          </a:p>
        </p:txBody>
      </p:sp>
      <p:sp>
        <p:nvSpPr>
          <p:cNvPr id="238" name="Google Shape;238;p21"/>
          <p:cNvSpPr txBox="1"/>
          <p:nvPr/>
        </p:nvSpPr>
        <p:spPr>
          <a:xfrm>
            <a:off x="457200" y="950000"/>
            <a:ext cx="3800000" cy="4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1E884D"/>
                </a:solidFill>
                <a:latin typeface="Verdana"/>
                <a:ea typeface="Verdana"/>
                <a:cs typeface="Verdana"/>
                <a:sym typeface="Verdana"/>
              </a:rPr>
              <a:t>✓ DO</a:t>
            </a:r>
            <a:endParaRPr/>
          </a:p>
        </p:txBody>
      </p:sp>
      <p:sp>
        <p:nvSpPr>
          <p:cNvPr id="239" name="Google Shape;239;p21"/>
          <p:cNvSpPr txBox="1"/>
          <p:nvPr/>
        </p:nvSpPr>
        <p:spPr>
          <a:xfrm>
            <a:off x="457200" y="1350000"/>
            <a:ext cx="3900000" cy="34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444444"/>
                </a:solidFill>
                <a:latin typeface="Verdana"/>
                <a:ea typeface="Verdana"/>
                <a:cs typeface="Verdana"/>
                <a:sym typeface="Verdana"/>
              </a:rPr>
              <a:t>•  Start with a chain. Use an agent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444444"/>
                </a:solidFill>
                <a:latin typeface="Verdana"/>
                <a:ea typeface="Verdana"/>
                <a:cs typeface="Verdana"/>
                <a:sym typeface="Verdana"/>
              </a:rPr>
              <a:t>    only when you really need one.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rgbClr val="444444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444444"/>
                </a:solidFill>
                <a:latin typeface="Verdana"/>
                <a:ea typeface="Verdana"/>
                <a:cs typeface="Verdana"/>
                <a:sym typeface="Verdana"/>
              </a:rPr>
              <a:t>•  Write clear tool names and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444444"/>
                </a:solidFill>
                <a:latin typeface="Verdana"/>
                <a:ea typeface="Verdana"/>
                <a:cs typeface="Verdana"/>
                <a:sym typeface="Verdana"/>
              </a:rPr>
              <a:t>    descriptions — that's how it chooses.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rgbClr val="444444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444444"/>
                </a:solidFill>
                <a:latin typeface="Verdana"/>
                <a:ea typeface="Verdana"/>
                <a:cs typeface="Verdana"/>
                <a:sym typeface="Verdana"/>
              </a:rPr>
              <a:t>•  Give it only the few tools it needs.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rgbClr val="444444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444444"/>
                </a:solidFill>
                <a:latin typeface="Verdana"/>
                <a:ea typeface="Verdana"/>
                <a:cs typeface="Verdana"/>
                <a:sym typeface="Verdana"/>
              </a:rPr>
              <a:t>•  Set a max-steps limit to avoid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444444"/>
                </a:solidFill>
                <a:latin typeface="Verdana"/>
                <a:ea typeface="Verdana"/>
                <a:cs typeface="Verdana"/>
                <a:sym typeface="Verdana"/>
              </a:rPr>
              <a:t>    infinite loops and runaway cost.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rgbClr val="444444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444444"/>
                </a:solidFill>
                <a:latin typeface="Verdana"/>
                <a:ea typeface="Verdana"/>
                <a:cs typeface="Verdana"/>
                <a:sym typeface="Verdana"/>
              </a:rPr>
              <a:t>•  Require approval before risky,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444444"/>
                </a:solidFill>
                <a:latin typeface="Verdana"/>
                <a:ea typeface="Verdana"/>
                <a:cs typeface="Verdana"/>
                <a:sym typeface="Verdana"/>
              </a:rPr>
              <a:t>    real-world actions.</a:t>
            </a:r>
            <a:endParaRPr/>
          </a:p>
        </p:txBody>
      </p:sp>
      <p:sp>
        <p:nvSpPr>
          <p:cNvPr id="240" name="Google Shape;240;p21"/>
          <p:cNvSpPr txBox="1"/>
          <p:nvPr/>
        </p:nvSpPr>
        <p:spPr>
          <a:xfrm>
            <a:off x="4800000" y="950000"/>
            <a:ext cx="3800000" cy="4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C0392B"/>
                </a:solidFill>
                <a:latin typeface="Verdana"/>
                <a:ea typeface="Verdana"/>
                <a:cs typeface="Verdana"/>
                <a:sym typeface="Verdana"/>
              </a:rPr>
              <a:t>✗ DON'T</a:t>
            </a:r>
            <a:endParaRPr/>
          </a:p>
        </p:txBody>
      </p:sp>
      <p:sp>
        <p:nvSpPr>
          <p:cNvPr id="241" name="Google Shape;241;p21"/>
          <p:cNvSpPr txBox="1"/>
          <p:nvPr/>
        </p:nvSpPr>
        <p:spPr>
          <a:xfrm>
            <a:off x="4800000" y="1350000"/>
            <a:ext cx="3900000" cy="34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444444"/>
                </a:solidFill>
                <a:latin typeface="Verdana"/>
                <a:ea typeface="Verdana"/>
                <a:cs typeface="Verdana"/>
                <a:sym typeface="Verdana"/>
              </a:rPr>
              <a:t>•  Don't reach for an agent when a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444444"/>
                </a:solidFill>
                <a:latin typeface="Verdana"/>
                <a:ea typeface="Verdana"/>
                <a:cs typeface="Verdana"/>
                <a:sym typeface="Verdana"/>
              </a:rPr>
              <a:t>    simple chain would do.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rgbClr val="444444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444444"/>
                </a:solidFill>
                <a:latin typeface="Verdana"/>
                <a:ea typeface="Verdana"/>
                <a:cs typeface="Verdana"/>
                <a:sym typeface="Verdana"/>
              </a:rPr>
              <a:t>•  Don't give vague tool descriptions —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444444"/>
                </a:solidFill>
                <a:latin typeface="Verdana"/>
                <a:ea typeface="Verdana"/>
                <a:cs typeface="Verdana"/>
                <a:sym typeface="Verdana"/>
              </a:rPr>
              <a:t>    the agent will misuse the tool.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rgbClr val="444444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444444"/>
                </a:solidFill>
                <a:latin typeface="Verdana"/>
                <a:ea typeface="Verdana"/>
                <a:cs typeface="Verdana"/>
                <a:sym typeface="Verdana"/>
              </a:rPr>
              <a:t>•  Don't hand it dangerous tools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444444"/>
                </a:solidFill>
                <a:latin typeface="Verdana"/>
                <a:ea typeface="Verdana"/>
                <a:cs typeface="Verdana"/>
                <a:sym typeface="Verdana"/>
              </a:rPr>
              <a:t>    (delete, pay, send) without limits.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rgbClr val="444444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444444"/>
                </a:solidFill>
                <a:latin typeface="Verdana"/>
                <a:ea typeface="Verdana"/>
                <a:cs typeface="Verdana"/>
                <a:sym typeface="Verdana"/>
              </a:rPr>
              <a:t>•  Don't let it run unbounded —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444444"/>
                </a:solidFill>
                <a:latin typeface="Verdana"/>
                <a:ea typeface="Verdana"/>
                <a:cs typeface="Verdana"/>
                <a:sym typeface="Verdana"/>
              </a:rPr>
              <a:t>    always cap the loops.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rgbClr val="444444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444444"/>
                </a:solidFill>
                <a:latin typeface="Verdana"/>
                <a:ea typeface="Verdana"/>
                <a:cs typeface="Verdana"/>
                <a:sym typeface="Verdana"/>
              </a:rPr>
              <a:t>•  Don't skip logging — you can't fix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444444"/>
                </a:solidFill>
                <a:latin typeface="Verdana"/>
                <a:ea typeface="Verdana"/>
                <a:cs typeface="Verdana"/>
                <a:sym typeface="Verdana"/>
              </a:rPr>
              <a:t>    what you can't see.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24"/>
          <p:cNvSpPr txBox="1"/>
          <p:nvPr/>
        </p:nvSpPr>
        <p:spPr>
          <a:xfrm>
            <a:off x="500000" y="1500000"/>
            <a:ext cx="8000000" cy="7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5400">
                <a:solidFill>
                  <a:srgbClr val="683FBE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Questions?</a:t>
            </a:r>
            <a:endParaRPr/>
          </a:p>
        </p:txBody>
      </p:sp>
      <p:sp>
        <p:nvSpPr>
          <p:cNvPr id="247" name="Google Shape;247;p24"/>
          <p:cNvSpPr txBox="1"/>
          <p:nvPr/>
        </p:nvSpPr>
        <p:spPr>
          <a:xfrm>
            <a:off x="500000" y="2400000"/>
            <a:ext cx="8000000" cy="3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00">
                <a:solidFill>
                  <a:srgbClr val="333333"/>
                </a:solidFill>
                <a:latin typeface="Verdana"/>
                <a:ea typeface="Verdana"/>
                <a:cs typeface="Verdana"/>
                <a:sym typeface="Verdana"/>
              </a:rPr>
              <a:t>Today: AI that ACTS — agents, tools, and the ReAct loop.   Next: controlling them with LangGraph.</a:t>
            </a:r>
            <a:endParaRPr/>
          </a:p>
        </p:txBody>
      </p:sp>
      <p:sp>
        <p:nvSpPr>
          <p:cNvPr id="248" name="Google Shape;248;p24"/>
          <p:cNvSpPr txBox="1"/>
          <p:nvPr/>
        </p:nvSpPr>
        <p:spPr>
          <a:xfrm>
            <a:off x="500000" y="3500000"/>
            <a:ext cx="8000000" cy="3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05A98A"/>
                </a:solidFill>
                <a:latin typeface="Verdana"/>
                <a:ea typeface="Verdana"/>
                <a:cs typeface="Verdana"/>
                <a:sym typeface="Verdana"/>
              </a:rPr>
              <a:t>Saksham Arora  •  Software Engineer II @ Intuit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</cp:coreProperties>
</file>