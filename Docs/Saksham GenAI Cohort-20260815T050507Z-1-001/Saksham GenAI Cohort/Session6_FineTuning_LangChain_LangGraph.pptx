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ZP7CszRCTGno6Rx+qm3o+5tC5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C6F013-46D9-47D6-93D8-1A5A14AA1B06}">
  <a:tblStyle styleId="{FFC6F013-46D9-47D6-93D8-1A5A14AA1B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000" y="10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Fine-Tuning, LangChain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0000" y="16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LangGraph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0000" y="2350000"/>
            <a:ext cx="8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Teaching the AI new tricks — and wiring it up like Lego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000" y="290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Session 6 — GenAI Cohort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0000" y="37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30000" y="3950000"/>
            <a:ext cx="4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30000" y="4200000"/>
            <a:ext cx="5498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We'll Cover Today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571500" y="1000000"/>
            <a:ext cx="80001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Fine-tuning — what it is, when to use it, when NOT 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Fine-tuning vs Prompting vs RAG — which one wins?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How fine-tuning actually works (in plain English)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④  LangChain — the 'Lego blocks' for building LLM apps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⑤  Why simple chains break — and meet LangGraph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⑥  LangGraph — nodes, edges, and state (with diagrams)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⑦  Improving accuracy + automation — putting it all together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Ways to Make an AI 'Smarter' at Your Job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Imagine you hired a brilliant new intern. How do you get them to do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YOUR work, the way YOUR company wants it done?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Option 1 — Tell them clearly every time   (Prompt Engineering)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"Hey, do this task, in this format, with this tone." Every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Option 2 — Give them your company handbook   (RAG)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"Read these documents first, then answer my question."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Option 3 — Send them to a special training program   (Fine-Tuning)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The intern goes away for a few weeks, comes back permanently better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at your specific kind of work.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Today: Option 3 (Fine-Tuning) and how to ORCHESTRATE all 3 with LangChain.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Fine-Tuning?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572000" y="791475"/>
            <a:ext cx="80001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 LLM is born knowing 'everything on the internet' — but nothing about YOU.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**Fine-tuning** = taking that AI and showing it lots of YOUR examples,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so it learns to answer YOUR way.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It is like: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Sending the intern to a class about your company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After the class, they reply in your tone, in your format, by default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You don't have to remind them every single time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Real example: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You have 5,000 old customer support tickets and their ideal replies.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You fine-tune a model on them.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Now the model writes replies in your support team's exact style.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**The AI's 'brain' actually changes.** That's the key difference from prompting.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Prompting vs RAG vs Fine-Tuning</a:t>
            </a:r>
            <a:endParaRPr/>
          </a:p>
        </p:txBody>
      </p:sp>
      <p:graphicFrame>
        <p:nvGraphicFramePr>
          <p:cNvPr id="114" name="Google Shape;114;p6"/>
          <p:cNvGraphicFramePr/>
          <p:nvPr/>
        </p:nvGraphicFramePr>
        <p:xfrm>
          <a:off x="457200" y="105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{FFC6F013-46D9-47D6-93D8-1A5A14AA1B06}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28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Prompting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Fine-Tuning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Changes the AI?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Cheapest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Cheap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Expensive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Setup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Minutes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Hours / Days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Days / Weeks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needed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Documents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1000s of examples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Quick tasks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Q&amp;A on your docs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Style, tone, format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Updates?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Instant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Re-index docs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Re-train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6"/>
          <p:cNvSpPr txBox="1"/>
          <p:nvPr/>
        </p:nvSpPr>
        <p:spPr>
          <a:xfrm>
            <a:off x="457200" y="420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Rule of thumb: Start with prompting → add RAG → fine-tune only if you still need 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To Fine-Tune (and When NOT To)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Fine-Tune When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need a very specific TONE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or STYLE (legal, medical, brand)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need a strict OUTPUT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every single time (JSON schemas)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have 1,000+ good examples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of input → ideal output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Prompting + RAG still gives bad results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want a smaller, cheaper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to behave like a bigger one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DON'T Fine-Tune When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want to teach the AI new FACTS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→ use RAG instead, it's better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Your data changes often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(re-training is slow &amp; costly)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have fewer than 100 examples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→ use few-shot prompting instead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haven't tried prompting properly yet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You don't have time, money, 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quality labeled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Fine-Tuning — The 3 You'll Hear About</a:t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571500" y="1000000"/>
            <a:ext cx="80001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Full Fine-Tuning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Change ALL the model's 'brain weights'.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Very powerful. Very expensive. Needs huge GPUs.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(You will almost never do this yourself.)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LoRA  (Low-Rank Adaptation)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Change only a tiny add-on layer, not the full model.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Cheap, fast, runs on a single GPU.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Result is a small 'patch' file you can plug in or remove.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★ This is what most teams use in 2025.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Instruction Tuning  /  SFT (Supervised Fine-Tuning)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Show the model: 'when user says X, you should reply Y.'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most common style for chatbots and support agents.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Fine-Tuning Workflow — 5 Steps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71500" y="1000000"/>
            <a:ext cx="80001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Collect data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Pairs of (input, ideal output). Quality &gt; quantity.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Example: 500 customer questions and your best agent's replies.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Clean &amp; format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Remove typos, secrets, bad examples. Save as JSONL.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Pick a base model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GPT-4o-mini, Llama-3-8B, Mistral-7B — pick what you can afford.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Train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Upload data to OpenAI / together.ai / your own GPU server.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Wait minutes (LoRA) to hours (full).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⑤  Evaluate &amp; deploy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Test on examples the model has NEVER seen. Compare with base model.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If better, deploy. If not, fix data and try again.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Fine-Tuning Data Actually Looks Like</a:t>
            </a:r>
            <a:endParaRPr/>
          </a:p>
        </p:txBody>
      </p:sp>
      <p:sp>
        <p:nvSpPr>
          <p:cNvPr id="142" name="Google Shape;142;p10"/>
          <p:cNvSpPr txBox="1"/>
          <p:nvPr/>
        </p:nvSpPr>
        <p:spPr>
          <a:xfrm>
            <a:off x="457200" y="1050000"/>
            <a:ext cx="8229600" cy="38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A typical JSONL file (one JSON object per line)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Each line teaches the model one input → output pair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{"messages":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"system",    "content": "You are a polite Intuit support agent."},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"user",      "content": "I cannot log in to QuickBooks."},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"assistant", "content": "I am sorry to hear that. Could you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please tell me which error 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you see on the login screen?"}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]}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{"messages":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"system",    "content": "You are a polite Intuit support agent."},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"user",      "content": "My invoice did not get emailed."},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{"role": "assistant", "content": "Let me help. Please share the invoice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number and the customer email so 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can check the send status."}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]}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Repeat this for 500–5000 high-quality examples.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Costs &amp; Risks — The Honest Picture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571500" y="1000000"/>
            <a:ext cx="800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Money (rough numbers, 2025):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Fine-tuning GPT-4o-mini on 1M tokens of data:  ~$3–$10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Fine-tuning Llama-3-8B with LoRA on your own GPU:  ~$5–$50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Full fine-tune of a 70B model:  thousands of dollars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Risks: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'Catastrophic forgetting' — model gets worse at general tasks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Bad data = bad model. Garbage in, garbage 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Locked to the version of model you fine-tuned. Upgrades = retrain.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Private data leaks if you fine-tune on customer info without care.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honest truth: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90% of problems are solved by  good prompting + RAG.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Fine-tune only when those two genuinely fail.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— Let's Talk About LangChain</a:t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Real AI apps are never just ONE prompt.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real app usually does many things in a row: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1.  Take the user's question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2.  Look up some documents (RAG)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3.  Call a tool (database, calculator, API)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4.  Ask the LLM to combine everything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5.  Format the answer nicely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6.  Send it back to the user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Writing all this from scratch is painful and repetitive.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LangChain gives you ready-made Lego blocks for each step.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You snap the blocks together — and you have an app.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LangChain — The Main Building Blocks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457200" y="950000"/>
            <a:ext cx="16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2100000" y="950000"/>
            <a:ext cx="6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actual LLM. Swap GPT for Claude with one line.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2100000" y="126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ChatOpenAI(model='gpt-4o-mini')</a:t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457200" y="1670000"/>
            <a:ext cx="16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Prompts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2100000" y="1670000"/>
            <a:ext cx="6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Re-usable templates with variables.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2100000" y="198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'Translate {text} to {language}'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457200" y="2390000"/>
            <a:ext cx="16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Chains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2100000" y="2390000"/>
            <a:ext cx="6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Connect steps together: prompt → LLM → parser.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2100000" y="27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prompt | llm | output_parser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457200" y="3110000"/>
            <a:ext cx="16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E86C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2100000" y="3110000"/>
            <a:ext cx="6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Functions the LLM can call: web search, DB, calculator.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2100000" y="342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@tool def get_weather(city): ...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457200" y="3830000"/>
            <a:ext cx="16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2100000" y="3830000"/>
            <a:ext cx="6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Remembers past messages so the chat feels continuous.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2100000" y="414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ConversationBufferMemory()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First LangChain App — In 6 Lines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457200" y="1050000"/>
            <a:ext cx="8229600" cy="38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200000" spcFirstLastPara="1" rIns="200000" wrap="square" tIns="18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Install once:  pip install langchain langchain-openai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langchain_openai import ChatOpenAI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83FBE"/>
                </a:solidFill>
                <a:latin typeface="Arial"/>
                <a:ea typeface="Arial"/>
                <a:cs typeface="Arial"/>
                <a:sym typeface="Arial"/>
              </a:rPr>
              <a:t>from langchain_core.prompts import ChatPromptTemplate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llm    = ChatOpenAI(model='gpt-4o-mini')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prompt = ChatPromptTemplate.from_template(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 'Translate this English text to {language}: {text}'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chain = prompt | llm        # &lt;- the pipe '|' chains the steps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result = chain.invoke({'language': 'Hindi', 'text': 'Good morning'})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print(result.content)       # -&gt; 'Suprabhat'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884D"/>
                </a:solidFill>
                <a:latin typeface="Arial"/>
                <a:ea typeface="Arial"/>
                <a:cs typeface="Arial"/>
                <a:sym typeface="Arial"/>
              </a:rPr>
              <a:t># That's it. Real production apps just have more blocks chained together.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Simple Chains Have a Problem...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Chains always go in a straight line — A → B → C → done.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Real apps are NOT straight lines: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What if the user's question needs the calculator AND the database?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What if the LLM's first answer is wrong and needs to retry?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What if some questions need 1 step and others need 5?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What if we need to ask the user a follow-up question?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Chains can't loop. Chains can't branch. Chains can't remember 'where am I?'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D46B0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We need something that supports: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loops  •  branches  •  retries  •  shared memory  •  human-in-the-loop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That something is LangGraph.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LangGraph?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89450" y="914400"/>
            <a:ext cx="81651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LangGraph is LangChain's big sibling for building complex AI workflows.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Think of it as a **flowchart that you can actually run.**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Three core ideas:</a:t>
            </a:r>
            <a:endParaRPr b="1" sz="15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</a:t>
            </a:r>
            <a:r>
              <a:rPr b="1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Nodes</a:t>
            </a: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— boxes that do work  (call LLM, look up a doc, run a tool)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</a:t>
            </a:r>
            <a:r>
              <a:rPr b="1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Edges</a:t>
            </a: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— arrows that decide  'where do we go next?'</a:t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</a:t>
            </a:r>
            <a:r>
              <a:rPr b="1"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State</a:t>
            </a: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— a shared notebook all nodes can read &amp; write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Why teams love it: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Can loop, branch, retry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You can SEE the workflow as a diagram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Easy to debug — you know exactly which node ran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Production-ready: used by Klarna, Replit, Uber, LinkedIn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/>
        </p:nvSpPr>
        <p:spPr>
          <a:xfrm>
            <a:off x="457200" y="228600"/>
            <a:ext cx="8229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LangChain vs LangGraph — When To Use Which</a:t>
            </a:r>
            <a:endParaRPr sz="1300"/>
          </a:p>
        </p:txBody>
      </p:sp>
      <p:sp>
        <p:nvSpPr>
          <p:cNvPr id="198" name="Google Shape;198;p17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LangChain (Chains)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ECF7F4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Straight-line workflows.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Best for: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Translation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Summarization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Simple Q&amp;A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One-shot RAG queries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Shape: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A → B → C → done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Easy. Predictable. Limited.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LangGraph (Graphs)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F4F1FB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Looping, branching workflows.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Best for: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AI Agents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Multi-step research bots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Chatbots with tools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 Self-correcting code generators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Shape: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A → B → (loop back) → C → ...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Flexible. Powerful. Slightly more setup.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LangGraph Workflow — Visualized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57200" y="7500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Example: a chatbot that decides whether to search the web or just answer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3700000" y="1450000"/>
            <a:ext cx="1700000" cy="6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 cap="flat" cmpd="sng" w="9525">
            <a:solidFill>
              <a:srgbClr val="05A9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START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(user question)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3700000" y="2400000"/>
            <a:ext cx="1700000" cy="6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Decide: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web search needed?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1300000" y="3350000"/>
            <a:ext cx="1700000" cy="60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Search the web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6100000" y="3350000"/>
            <a:ext cx="1700000" cy="60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 cap="flat" cmpd="sng" w="9525">
            <a:solidFill>
              <a:srgbClr val="D46B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Answer directly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3700000" y="4300000"/>
            <a:ext cx="1700000" cy="6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 cap="flat" cmpd="sng" w="9525">
            <a:solidFill>
              <a:srgbClr val="683F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LLM combines</a:t>
            </a:r>
            <a:b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everything</a:t>
            </a:r>
            <a:endParaRPr/>
          </a:p>
        </p:txBody>
      </p:sp>
      <p:cxnSp>
        <p:nvCxnSpPr>
          <p:cNvPr id="213" name="Google Shape;213;p18"/>
          <p:cNvCxnSpPr/>
          <p:nvPr/>
        </p:nvCxnSpPr>
        <p:spPr>
          <a:xfrm>
            <a:off x="4550000" y="2050000"/>
            <a:ext cx="0" cy="3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4" name="Google Shape;214;p18"/>
          <p:cNvCxnSpPr/>
          <p:nvPr/>
        </p:nvCxnSpPr>
        <p:spPr>
          <a:xfrm flipH="1">
            <a:off x="2150000" y="3000000"/>
            <a:ext cx="1850000" cy="3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5" name="Google Shape;215;p18"/>
          <p:cNvCxnSpPr/>
          <p:nvPr/>
        </p:nvCxnSpPr>
        <p:spPr>
          <a:xfrm>
            <a:off x="5100000" y="3000000"/>
            <a:ext cx="1850000" cy="3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6" name="Google Shape;216;p18"/>
          <p:cNvCxnSpPr/>
          <p:nvPr/>
        </p:nvCxnSpPr>
        <p:spPr>
          <a:xfrm>
            <a:off x="2150000" y="3950000"/>
            <a:ext cx="1850000" cy="3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7" name="Google Shape;217;p18"/>
          <p:cNvCxnSpPr/>
          <p:nvPr/>
        </p:nvCxnSpPr>
        <p:spPr>
          <a:xfrm flipH="1">
            <a:off x="5100000" y="3950000"/>
            <a:ext cx="1850000" cy="350000"/>
          </a:xfrm>
          <a:prstGeom prst="straightConnector1">
            <a:avLst/>
          </a:prstGeom>
          <a:noFill/>
          <a:ln cap="flat" cmpd="sng" w="254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8" name="Google Shape;218;p18"/>
          <p:cNvSpPr txBox="1"/>
          <p:nvPr/>
        </p:nvSpPr>
        <p:spPr>
          <a:xfrm>
            <a:off x="2700000" y="295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Yes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800000" y="295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248675" y="110390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Each box = a NODE.  Each arrow = an EDGE.  The 'question' moves through them.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LangGraph Wins in Real Projects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1000000"/>
            <a:ext cx="80001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Loops you can control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AI tries → fails → retries → succeeds. Without infinite loops.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Branches based on the LLM's own decision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AI itself decides which node runs next.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Built-in memory / state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shared notebook means every node sees the latest info.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Human-in-the-loop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Pause the graph. Wait for a human to approve. Then resume.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Critical for finance, legal, medical apps.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5.  Streaming + observability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You can SEE each node fire in real-time. Debugging is dramatically easier.</a:t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6.  Production-ready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Persistent state, time-travel, checkpoints — built in.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