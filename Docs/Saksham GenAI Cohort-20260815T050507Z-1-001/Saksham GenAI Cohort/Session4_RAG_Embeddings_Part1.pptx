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y="5143500" cx="9144000"/>
  <p:notesSz cx="6858000" cy="9144000"/>
  <p:embeddedFontLst>
    <p:embeddedFont>
      <p:font typeface="Helvetica Neue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6" roundtripDataSignature="AMtx7mhIh8wMuisnIO5VNVrQNCE3E+bls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E2C0BB9-3CFF-4CCA-9269-F0D1CF88E965}">
  <a:tblStyle styleId="{EE2C0BB9-3CFF-4CCA-9269-F0D1CF88E96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HelveticaNeue-bold.fntdata"/><Relationship Id="rId10" Type="http://schemas.openxmlformats.org/officeDocument/2006/relationships/slide" Target="slides/slide4.xml"/><Relationship Id="rId32" Type="http://schemas.openxmlformats.org/officeDocument/2006/relationships/font" Target="fonts/HelveticaNeue-regular.fntdata"/><Relationship Id="rId13" Type="http://schemas.openxmlformats.org/officeDocument/2006/relationships/slide" Target="slides/slide7.xml"/><Relationship Id="rId35" Type="http://schemas.openxmlformats.org/officeDocument/2006/relationships/font" Target="fonts/HelveticaNeue-boldItalic.fntdata"/><Relationship Id="rId12" Type="http://schemas.openxmlformats.org/officeDocument/2006/relationships/slide" Target="slides/slide6.xml"/><Relationship Id="rId34" Type="http://schemas.openxmlformats.org/officeDocument/2006/relationships/font" Target="fonts/HelveticaNeue-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36" Type="http://customschemas.google.com/relationships/presentationmetadata" Target="meta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e7b4e8a6ae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g3e7b4e8a6ae_1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e7b4e8a6ae_1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g3e7b4e8a6ae_1_8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e285c585cb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g3e285c585cb_1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3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3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3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3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9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0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0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4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www.linkedin.com/in/sakshamarora9575/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500000" y="1000000"/>
            <a:ext cx="800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Foundations of RAG</a:t>
            </a:r>
            <a:endParaRPr/>
          </a:p>
        </p:txBody>
      </p:sp>
      <p:sp>
        <p:nvSpPr>
          <p:cNvPr id="85" name="Google Shape;85;p1"/>
          <p:cNvSpPr txBox="1"/>
          <p:nvPr/>
        </p:nvSpPr>
        <p:spPr>
          <a:xfrm>
            <a:off x="500000" y="1600000"/>
            <a:ext cx="800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&amp; Embeddings — Part 1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500000" y="2350000"/>
            <a:ext cx="800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83FB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Teaching the AI about YOUR data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530000" y="2900000"/>
            <a:ext cx="6000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530000" y="3700000"/>
            <a:ext cx="3000000" cy="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Saksham Arora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530000" y="3950000"/>
            <a:ext cx="51477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2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Software Engineer II @ Intuit</a:t>
            </a:r>
            <a:endParaRPr b="1" sz="1200">
              <a:solidFill>
                <a:srgbClr val="3333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2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Ex - Software Engineer @ Microsoft</a:t>
            </a:r>
            <a:endParaRPr b="1" sz="1200">
              <a:solidFill>
                <a:srgbClr val="3333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200" u="sng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  <a:hlinkClick r:id="rId3"/>
              </a:rPr>
              <a:t>https://www.linkedin.com/in/sakshamarora9575/</a:t>
            </a:r>
            <a:r>
              <a:rPr b="1" lang="en-US" sz="12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b="1" sz="1200">
              <a:solidFill>
                <a:srgbClr val="3333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333333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530000" y="4200000"/>
            <a:ext cx="3999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5A98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What We'll Cover Today</a:t>
            </a:r>
            <a:endParaRPr/>
          </a:p>
        </p:txBody>
      </p:sp>
      <p:sp>
        <p:nvSpPr>
          <p:cNvPr id="96" name="Google Shape;96;p3"/>
          <p:cNvSpPr txBox="1"/>
          <p:nvPr/>
        </p:nvSpPr>
        <p:spPr>
          <a:xfrm>
            <a:off x="572000" y="755500"/>
            <a:ext cx="8000100" cy="41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①  Why RAG?  (the problem with plain LLMs)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②  What is RAG?  (the open-book exam analogy)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③  Embeddings — turning text into numbers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④  Semantic search — finding meaning, not just words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⑤  Vector databases — where embeddings live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⑥  The full RAG pipeline — end to end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⑦  Tips to make answers better + common mistakes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"/>
          <p:cNvSpPr txBox="1"/>
          <p:nvPr/>
        </p:nvSpPr>
        <p:spPr>
          <a:xfrm>
            <a:off x="457200" y="228600"/>
            <a:ext cx="82296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683FB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Problem — Plain LLMs Have Blind </a:t>
            </a:r>
            <a:endParaRPr b="1" i="0" sz="2800" u="none" cap="none" strike="noStrike">
              <a:solidFill>
                <a:srgbClr val="683FB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683FB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Spots</a:t>
            </a:r>
            <a:endParaRPr/>
          </a:p>
        </p:txBody>
      </p:sp>
      <p:sp>
        <p:nvSpPr>
          <p:cNvPr id="102" name="Google Shape;102;p4"/>
          <p:cNvSpPr txBox="1"/>
          <p:nvPr/>
        </p:nvSpPr>
        <p:spPr>
          <a:xfrm>
            <a:off x="517150" y="1182900"/>
            <a:ext cx="8000100" cy="36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Chat GPT</a:t>
            </a:r>
            <a:r>
              <a:rPr b="0" i="0" lang="en-US" sz="15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is brilliant, but it has 3 big blind spots: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C0392B"/>
                </a:solidFill>
                <a:latin typeface="Verdana"/>
                <a:ea typeface="Verdana"/>
                <a:cs typeface="Verdana"/>
                <a:sym typeface="Verdana"/>
              </a:rPr>
              <a:t>1.  No knowledge of YOUR data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 It has never seen your company wiki, your customer tickets,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 your code repo, or your internal Confluence pages.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C0392B"/>
                </a:solidFill>
                <a:latin typeface="Verdana"/>
                <a:ea typeface="Verdana"/>
                <a:cs typeface="Verdana"/>
                <a:sym typeface="Verdana"/>
              </a:rPr>
              <a:t>2.  Old information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 "Training cutoff" — anything that happened after that date is unknown.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C0392B"/>
                </a:solidFill>
                <a:latin typeface="Verdana"/>
                <a:ea typeface="Verdana"/>
                <a:cs typeface="Verdana"/>
                <a:sym typeface="Verdana"/>
              </a:rPr>
              <a:t>3.  Hallucinations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 If it doesn't know, it confidently makes up an answer.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Asking ChatGPT about your company's leave policy?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C0392B"/>
                </a:solidFill>
                <a:latin typeface="Verdana"/>
                <a:ea typeface="Verdana"/>
                <a:cs typeface="Verdana"/>
                <a:sym typeface="Verdana"/>
              </a:rPr>
              <a:t>It will guess. And the guess will sound very real.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"/>
          <p:cNvSpPr txBox="1"/>
          <p:nvPr/>
        </p:nvSpPr>
        <p:spPr>
          <a:xfrm>
            <a:off x="457200" y="228600"/>
            <a:ext cx="84081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683FB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What Is RAG? — The Open-Book Exam</a:t>
            </a:r>
            <a:endParaRPr b="1" i="0" sz="2800" u="none" cap="none" strike="noStrike">
              <a:solidFill>
                <a:srgbClr val="683FB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683FB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Analogy</a:t>
            </a:r>
            <a:endParaRPr/>
          </a:p>
        </p:txBody>
      </p:sp>
      <p:sp>
        <p:nvSpPr>
          <p:cNvPr id="108" name="Google Shape;108;p5"/>
          <p:cNvSpPr txBox="1"/>
          <p:nvPr/>
        </p:nvSpPr>
        <p:spPr>
          <a:xfrm>
            <a:off x="457200" y="1357875"/>
            <a:ext cx="8000100" cy="36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Imagine two students taking the same exam:</a:t>
            </a:r>
            <a:endParaRPr b="0" i="0" sz="15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C0392B"/>
                </a:solidFill>
                <a:latin typeface="Verdana"/>
                <a:ea typeface="Verdana"/>
                <a:cs typeface="Verdana"/>
                <a:sym typeface="Verdana"/>
              </a:rPr>
              <a:t>Student A — Closed book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 Must answer from memory only.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 Forgets things. Makes stuff up. Stuck on new topics.</a:t>
            </a:r>
            <a:endParaRPr b="0" i="0" sz="13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E884D"/>
                </a:solidFill>
                <a:latin typeface="Verdana"/>
                <a:ea typeface="Verdana"/>
                <a:cs typeface="Verdana"/>
                <a:sym typeface="Verdana"/>
              </a:rPr>
              <a:t>Student B — Open book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 Can flip through the textbook before answering.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 Looks up the right page, then writes a great answer.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683FBE"/>
                </a:solidFill>
                <a:latin typeface="Verdana"/>
                <a:ea typeface="Verdana"/>
                <a:cs typeface="Verdana"/>
                <a:sym typeface="Verdana"/>
              </a:rPr>
              <a:t>Plain LLM = Student A.   RAG = Student B.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i="0" sz="1600" u="none" cap="none" strike="noStrike">
              <a:solidFill>
                <a:srgbClr val="683FBE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5A98A"/>
                </a:solidFill>
                <a:latin typeface="Verdana"/>
                <a:ea typeface="Verdana"/>
                <a:cs typeface="Verdana"/>
                <a:sym typeface="Verdana"/>
              </a:rPr>
              <a:t>RAG  =  Retrieval-Augmented Generation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    Retrieval — go fetch the right info from your data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    Augmented — add that info to the prompt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    Generation — let the LLM write the final answer using it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683FB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Without RAG vs With RAG</a:t>
            </a:r>
            <a:endParaRPr/>
          </a:p>
        </p:txBody>
      </p:sp>
      <p:sp>
        <p:nvSpPr>
          <p:cNvPr id="114" name="Google Shape;114;p6"/>
          <p:cNvSpPr txBox="1"/>
          <p:nvPr/>
        </p:nvSpPr>
        <p:spPr>
          <a:xfrm>
            <a:off x="457200" y="950000"/>
            <a:ext cx="3900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C0392B"/>
                </a:solidFill>
                <a:latin typeface="Verdana"/>
                <a:ea typeface="Verdana"/>
                <a:cs typeface="Verdana"/>
                <a:sym typeface="Verdana"/>
              </a:rPr>
              <a:t>✗ Plain LLM</a:t>
            </a:r>
            <a:endParaRPr/>
          </a:p>
        </p:txBody>
      </p:sp>
      <p:sp>
        <p:nvSpPr>
          <p:cNvPr id="115" name="Google Shape;115;p6"/>
          <p:cNvSpPr txBox="1"/>
          <p:nvPr/>
        </p:nvSpPr>
        <p:spPr>
          <a:xfrm>
            <a:off x="457200" y="1350000"/>
            <a:ext cx="3900000" cy="3400000"/>
          </a:xfrm>
          <a:prstGeom prst="rect">
            <a:avLst/>
          </a:prstGeom>
          <a:solidFill>
            <a:srgbClr val="FDF0EE"/>
          </a:solidFill>
          <a:ln>
            <a:noFill/>
          </a:ln>
        </p:spPr>
        <p:txBody>
          <a:bodyPr anchorCtr="0" anchor="t" bIns="45700" lIns="150000" spcFirstLastPara="1" rIns="150000" wrap="square" tIns="150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User: "What is our company's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leave policy for new joiners?"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3333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LLM (guessing):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"Most companies offer 12-15 days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of paid leave per year..."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3333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Sounds right.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But it's just made up.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Could be totally wrong.</a:t>
            </a:r>
            <a:endParaRPr/>
          </a:p>
        </p:txBody>
      </p:sp>
      <p:sp>
        <p:nvSpPr>
          <p:cNvPr id="116" name="Google Shape;116;p6"/>
          <p:cNvSpPr txBox="1"/>
          <p:nvPr/>
        </p:nvSpPr>
        <p:spPr>
          <a:xfrm>
            <a:off x="4800000" y="950000"/>
            <a:ext cx="3900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E884D"/>
                </a:solidFill>
                <a:latin typeface="Verdana"/>
                <a:ea typeface="Verdana"/>
                <a:cs typeface="Verdana"/>
                <a:sym typeface="Verdana"/>
              </a:rPr>
              <a:t>✓ With RAG</a:t>
            </a:r>
            <a:endParaRPr/>
          </a:p>
        </p:txBody>
      </p:sp>
      <p:sp>
        <p:nvSpPr>
          <p:cNvPr id="117" name="Google Shape;117;p6"/>
          <p:cNvSpPr txBox="1"/>
          <p:nvPr/>
        </p:nvSpPr>
        <p:spPr>
          <a:xfrm>
            <a:off x="4800000" y="1350000"/>
            <a:ext cx="3900000" cy="3400000"/>
          </a:xfrm>
          <a:prstGeom prst="rect">
            <a:avLst/>
          </a:prstGeom>
          <a:solidFill>
            <a:srgbClr val="EEF7F0"/>
          </a:solidFill>
          <a:ln>
            <a:noFill/>
          </a:ln>
        </p:spPr>
        <p:txBody>
          <a:bodyPr anchorCtr="0" anchor="t" bIns="45700" lIns="150000" spcFirstLastPara="1" rIns="150000" wrap="square" tIns="150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User: "What is our company's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leave policy for new joiners?"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3333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RAG looks up the HR handbook,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finds the right page, and feeds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it to the LLM.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3333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LLM (using your data):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"As per the 2026 HR policy, new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joiners get 18 days of paid leave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in their first year..."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e7b4e8a6ae_1_3"/>
          <p:cNvSpPr txBox="1"/>
          <p:nvPr/>
        </p:nvSpPr>
        <p:spPr>
          <a:xfrm>
            <a:off x="457200" y="228600"/>
            <a:ext cx="8229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683FB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RAG Architecture — The Big Picture</a:t>
            </a:r>
            <a:endParaRPr/>
          </a:p>
        </p:txBody>
      </p:sp>
      <p:sp>
        <p:nvSpPr>
          <p:cNvPr id="123" name="Google Shape;123;g3e7b4e8a6ae_1_3"/>
          <p:cNvSpPr txBox="1"/>
          <p:nvPr/>
        </p:nvSpPr>
        <p:spPr>
          <a:xfrm>
            <a:off x="571500" y="950000"/>
            <a:ext cx="8000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5A98A"/>
                </a:solidFill>
                <a:latin typeface="Verdana"/>
                <a:ea typeface="Verdana"/>
                <a:cs typeface="Verdana"/>
                <a:sym typeface="Verdana"/>
              </a:rPr>
              <a:t>Phase 1: Ingestion (Offline)</a:t>
            </a:r>
            <a:endParaRPr/>
          </a:p>
        </p:txBody>
      </p:sp>
      <p:sp>
        <p:nvSpPr>
          <p:cNvPr id="124" name="Google Shape;124;g3e7b4e8a6ae_1_3"/>
          <p:cNvSpPr txBox="1"/>
          <p:nvPr/>
        </p:nvSpPr>
        <p:spPr>
          <a:xfrm>
            <a:off x="571500" y="1350000"/>
            <a:ext cx="80001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Prepare your documents so the AI can search them quickly.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📄 Documents  →  ✂️ Chunk  →  🔢 Embed  →  💾 Store in Vector DB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Analogy: Building a library — organize, catalog, create a search index.</a:t>
            </a:r>
            <a:endParaRPr/>
          </a:p>
        </p:txBody>
      </p:sp>
      <p:sp>
        <p:nvSpPr>
          <p:cNvPr id="125" name="Google Shape;125;g3e7b4e8a6ae_1_3"/>
          <p:cNvSpPr txBox="1"/>
          <p:nvPr/>
        </p:nvSpPr>
        <p:spPr>
          <a:xfrm>
            <a:off x="571500" y="2700000"/>
            <a:ext cx="8000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683FBE"/>
                </a:solidFill>
                <a:latin typeface="Verdana"/>
                <a:ea typeface="Verdana"/>
                <a:cs typeface="Verdana"/>
                <a:sym typeface="Verdana"/>
              </a:rPr>
              <a:t>Phase 2: Retrieval + Generation (Online)</a:t>
            </a:r>
            <a:endParaRPr/>
          </a:p>
        </p:txBody>
      </p:sp>
      <p:sp>
        <p:nvSpPr>
          <p:cNvPr id="126" name="Google Shape;126;g3e7b4e8a6ae_1_3"/>
          <p:cNvSpPr txBox="1"/>
          <p:nvPr/>
        </p:nvSpPr>
        <p:spPr>
          <a:xfrm>
            <a:off x="571500" y="3100000"/>
            <a:ext cx="80001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When a user asks a question, search documents → find relevant pieces → generate answer.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❓ Question  →  🔍 Search  →  📑 Context + Question  →  🤖 LLM  →  ✅ Answer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Analogy: A librarian — finds the right books, opens to the right pages.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e7b4e8a6ae_1_89"/>
          <p:cNvSpPr txBox="1"/>
          <p:nvPr/>
        </p:nvSpPr>
        <p:spPr>
          <a:xfrm>
            <a:off x="457200" y="228600"/>
            <a:ext cx="8229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5A98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Phase 1 — Document Ingestion Pipeline</a:t>
            </a:r>
            <a:endParaRPr/>
          </a:p>
        </p:txBody>
      </p:sp>
      <p:sp>
        <p:nvSpPr>
          <p:cNvPr id="132" name="Google Shape;132;g3e7b4e8a6ae_1_89"/>
          <p:cNvSpPr txBox="1"/>
          <p:nvPr/>
        </p:nvSpPr>
        <p:spPr>
          <a:xfrm>
            <a:off x="571500" y="1000000"/>
            <a:ext cx="8000100" cy="39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Step 1: Load Documents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• PDFs, Word docs, web pages, Confluence, Notion, Slack, emails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• Law firm: case files | Hospital: clinical guidelines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• Tech co: API docs, runbooks | E-commerce: product catalogs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Step 2: Chunk the Documents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• Break large documents into smaller, meaningful pieces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Step 3: Create Embeddings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• Transform each chunk into a mathematical representation of its meaning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Step 4: Store in a Vector Database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• Save representations in a DB designed for fast similarity search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9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683FB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What Are Embeddings?</a:t>
            </a:r>
            <a:endParaRPr/>
          </a:p>
        </p:txBody>
      </p:sp>
      <p:sp>
        <p:nvSpPr>
          <p:cNvPr id="138" name="Google Shape;138;p9"/>
          <p:cNvSpPr txBox="1"/>
          <p:nvPr/>
        </p:nvSpPr>
        <p:spPr>
          <a:xfrm>
            <a:off x="572000" y="914400"/>
            <a:ext cx="8000100" cy="37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An embedding is a way to turn TEXT into a list of NUMBERS.</a:t>
            </a:r>
            <a:endParaRPr b="0" i="0" sz="14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These numbers capture the MEANING of the text.</a:t>
            </a:r>
            <a:endParaRPr b="0" i="0" sz="14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Example (simplified):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"dog"      →   [0.21, 0.85, 0.04, ..., 0.93]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"puppy"  →   [0.22, 0.84, 0.05, ..., 0.91]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"car"      →   [0.91, 0.02, 0.66, ..., 0.10]</a:t>
            </a:r>
            <a:endParaRPr b="0" i="0" sz="14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Look closely: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• 'dog' and 'puppy' have very SIMILAR numbers — similar meaning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• 'car' has very DIFFERENT numbers — different meaning</a:t>
            </a:r>
            <a:endParaRPr b="0" i="0" sz="14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The big idea: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Things that mean similar things end up with similar numbers.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The closer the numbers, the closer the meaning.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0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683FB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Embeddings — Think of It as a Giant Map</a:t>
            </a:r>
            <a:endParaRPr/>
          </a:p>
        </p:txBody>
      </p:sp>
      <p:sp>
        <p:nvSpPr>
          <p:cNvPr id="144" name="Google Shape;144;p10"/>
          <p:cNvSpPr txBox="1"/>
          <p:nvPr/>
        </p:nvSpPr>
        <p:spPr>
          <a:xfrm>
            <a:off x="571500" y="1050000"/>
            <a:ext cx="8000000" cy="3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Imagine a giant map. Every word, sentence, and document is a DOT on the map.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5A98A"/>
                </a:solidFill>
                <a:latin typeface="Verdana"/>
                <a:ea typeface="Verdana"/>
                <a:cs typeface="Verdana"/>
                <a:sym typeface="Verdana"/>
              </a:rPr>
              <a:t>Things with SIMILAR meaning sit CLOSE together.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rgbClr val="05A98A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"dog"  ←  near  →  "puppy", "labrador", "pet"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"car"  ←  near  →  "vehicle", "auto", "sedan"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"happy"  ←  near  →  "joyful", "glad", "cheerful"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3333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C0392B"/>
                </a:solidFill>
                <a:latin typeface="Verdana"/>
                <a:ea typeface="Verdana"/>
                <a:cs typeface="Verdana"/>
                <a:sym typeface="Verdana"/>
              </a:rPr>
              <a:t>Things with DIFFERENT meaning sit FAR APART.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"dog"  ←  far  →  "spaceship"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"happy"  ←  far  →  "tax form"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3333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683FBE"/>
                </a:solidFill>
                <a:latin typeface="Verdana"/>
                <a:ea typeface="Verdana"/>
                <a:cs typeface="Verdana"/>
                <a:sym typeface="Verdana"/>
              </a:rPr>
              <a:t>To search by meaning, we just find the dots NEAREST to your question's dot.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683FBE"/>
                </a:solidFill>
                <a:latin typeface="Verdana"/>
                <a:ea typeface="Verdana"/>
                <a:cs typeface="Verdana"/>
                <a:sym typeface="Verdana"/>
              </a:rPr>
              <a:t>That's the whole trick.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1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683FB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How Big Are These Number Lists?</a:t>
            </a:r>
            <a:endParaRPr/>
          </a:p>
        </p:txBody>
      </p:sp>
      <p:sp>
        <p:nvSpPr>
          <p:cNvPr id="150" name="Google Shape;150;p11"/>
          <p:cNvSpPr txBox="1"/>
          <p:nvPr/>
        </p:nvSpPr>
        <p:spPr>
          <a:xfrm>
            <a:off x="571500" y="1000000"/>
            <a:ext cx="8000100" cy="38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Embeddings aren't just 2-3 numbers. They're HUGE lists.</a:t>
            </a:r>
            <a:endParaRPr b="0" i="0" sz="14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Common sizes (called 'dimensions'):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• OpenAI text-embedding-3-small    →  1536 numbers per text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• </a:t>
            </a:r>
            <a:r>
              <a:rPr b="1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OpenAI text-embedding-3-large</a:t>
            </a: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→  3072 numbers per text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• Google text-embedding-004         →  768 numbers per text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• Cohere embed-english-v3         </a:t>
            </a:r>
            <a:r>
              <a:rPr lang="en-US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</a:t>
            </a: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→  1024 numbers per text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Why so many?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Each number captures a different aspect of meaning: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    is it about animals? is it formal? is it positive? is it about money?</a:t>
            </a:r>
            <a:endParaRPr b="0" i="0" sz="14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More dimensions  →  more nuance captured  →  better search.</a:t>
            </a:r>
            <a:endParaRPr b="0" i="0" sz="14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You don't read these numbers. You don't understand them.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You just compare them — that's it.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2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683FB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How Do We Compare Two Embeddings?</a:t>
            </a:r>
            <a:endParaRPr/>
          </a:p>
        </p:txBody>
      </p:sp>
      <p:sp>
        <p:nvSpPr>
          <p:cNvPr id="156" name="Google Shape;156;p12"/>
          <p:cNvSpPr txBox="1"/>
          <p:nvPr/>
        </p:nvSpPr>
        <p:spPr>
          <a:xfrm>
            <a:off x="571500" y="1050000"/>
            <a:ext cx="80001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We need a way to measure 'closeness' between two number lists.</a:t>
            </a:r>
            <a:endParaRPr b="0" i="0" sz="14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5A98A"/>
                </a:solidFill>
                <a:latin typeface="Verdana"/>
                <a:ea typeface="Verdana"/>
                <a:cs typeface="Verdana"/>
                <a:sym typeface="Verdana"/>
              </a:rPr>
              <a:t>The most common method: COSINE SIMILARITY.</a:t>
            </a:r>
            <a:endParaRPr b="1" i="0" sz="1500" u="none" cap="none" strike="noStrike">
              <a:solidFill>
                <a:srgbClr val="05A98A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Output is a single number between -1 and +1: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E884D"/>
                </a:solidFill>
                <a:latin typeface="Verdana"/>
                <a:ea typeface="Verdana"/>
                <a:cs typeface="Verdana"/>
                <a:sym typeface="Verdana"/>
              </a:rPr>
              <a:t>    +1.0   →   identical meaning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     0.8   →   very similar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     0.5   →   somewhat related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     0.0   →   unrelated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C0392B"/>
                </a:solidFill>
                <a:latin typeface="Verdana"/>
                <a:ea typeface="Verdana"/>
                <a:cs typeface="Verdana"/>
                <a:sym typeface="Verdana"/>
              </a:rPr>
              <a:t>    -1.0   →   opposite</a:t>
            </a:r>
            <a:endParaRPr b="1" i="0" sz="1400" u="none" cap="none" strike="noStrike">
              <a:solidFill>
                <a:srgbClr val="C0392B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Example:  cosine("dog", "puppy")  ≈  0.91   →   very similar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Example:  cosine("dog", "car")     ≈  0.12   →   barely related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3333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683FBE"/>
                </a:solidFill>
                <a:latin typeface="Verdana"/>
                <a:ea typeface="Verdana"/>
                <a:cs typeface="Verdana"/>
                <a:sym typeface="Verdana"/>
              </a:rPr>
              <a:t>That's all you need to know. Don't worry about the math.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683FBE"/>
                </a:solidFill>
                <a:latin typeface="Verdana"/>
                <a:ea typeface="Verdana"/>
                <a:cs typeface="Verdana"/>
                <a:sym typeface="Verdana"/>
              </a:rPr>
              <a:t>Every library does the calculation for you.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3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5A98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Semantic Search — Putting It Together</a:t>
            </a:r>
            <a:endParaRPr/>
          </a:p>
        </p:txBody>
      </p:sp>
      <p:sp>
        <p:nvSpPr>
          <p:cNvPr id="162" name="Google Shape;162;p13"/>
          <p:cNvSpPr txBox="1"/>
          <p:nvPr/>
        </p:nvSpPr>
        <p:spPr>
          <a:xfrm>
            <a:off x="571500" y="1000000"/>
            <a:ext cx="8000100" cy="40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Setup (done once):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①  Take all your documents.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②  Break each one into small chunks (paragraph-sized).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③  Convert each chunk into an embedding (numbers).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④  Store all the numbers somewhere.</a:t>
            </a:r>
            <a:endParaRPr b="0" i="0" sz="14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Search (every time a user asks):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①  Take the user's question.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②  Convert IT into an embedding too.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③  Find the chunks whose embeddings are CLOSEST to the question's.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④  Return those top 3-5 chunks.</a:t>
            </a:r>
            <a:endParaRPr b="0" i="0" sz="14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That's semantic search.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i="0" sz="1500" u="none" cap="none" strike="noStrike">
              <a:solidFill>
                <a:srgbClr val="3333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It finds answers based on MEANING, not on the exact words used.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4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683FB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Keyword Search vs Semantic Search</a:t>
            </a:r>
            <a:endParaRPr/>
          </a:p>
        </p:txBody>
      </p:sp>
      <p:sp>
        <p:nvSpPr>
          <p:cNvPr id="168" name="Google Shape;168;p14"/>
          <p:cNvSpPr txBox="1"/>
          <p:nvPr/>
        </p:nvSpPr>
        <p:spPr>
          <a:xfrm>
            <a:off x="457200" y="950000"/>
            <a:ext cx="3900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C0392B"/>
                </a:solidFill>
                <a:latin typeface="Verdana"/>
                <a:ea typeface="Verdana"/>
                <a:cs typeface="Verdana"/>
                <a:sym typeface="Verdana"/>
              </a:rPr>
              <a:t>✗ Keyword Search</a:t>
            </a:r>
            <a:endParaRPr/>
          </a:p>
        </p:txBody>
      </p:sp>
      <p:sp>
        <p:nvSpPr>
          <p:cNvPr id="169" name="Google Shape;169;p14"/>
          <p:cNvSpPr txBox="1"/>
          <p:nvPr/>
        </p:nvSpPr>
        <p:spPr>
          <a:xfrm>
            <a:off x="457200" y="1350000"/>
            <a:ext cx="3900000" cy="3400000"/>
          </a:xfrm>
          <a:prstGeom prst="rect">
            <a:avLst/>
          </a:prstGeom>
          <a:solidFill>
            <a:srgbClr val="FDF0EE"/>
          </a:solidFill>
          <a:ln>
            <a:noFill/>
          </a:ln>
        </p:spPr>
        <p:txBody>
          <a:bodyPr anchorCtr="0" anchor="t" bIns="45700" lIns="150000" spcFirstLastPara="1" rIns="150000" wrap="square" tIns="150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User asks: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"How do I get time off?"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3333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Searches for the words: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"time" and "off"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3333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Document says: "Annual leave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entitlement is 18 days..."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3333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Result:  No match found.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3333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User is frustrated. </a:t>
            </a:r>
            <a:endParaRPr/>
          </a:p>
        </p:txBody>
      </p:sp>
      <p:sp>
        <p:nvSpPr>
          <p:cNvPr id="170" name="Google Shape;170;p14"/>
          <p:cNvSpPr txBox="1"/>
          <p:nvPr/>
        </p:nvSpPr>
        <p:spPr>
          <a:xfrm>
            <a:off x="4800000" y="950000"/>
            <a:ext cx="3900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E884D"/>
                </a:solidFill>
                <a:latin typeface="Verdana"/>
                <a:ea typeface="Verdana"/>
                <a:cs typeface="Verdana"/>
                <a:sym typeface="Verdana"/>
              </a:rPr>
              <a:t>✓ Semantic Search</a:t>
            </a:r>
            <a:endParaRPr/>
          </a:p>
        </p:txBody>
      </p:sp>
      <p:sp>
        <p:nvSpPr>
          <p:cNvPr id="171" name="Google Shape;171;p14"/>
          <p:cNvSpPr txBox="1"/>
          <p:nvPr/>
        </p:nvSpPr>
        <p:spPr>
          <a:xfrm>
            <a:off x="4800000" y="1350000"/>
            <a:ext cx="3900000" cy="3400000"/>
          </a:xfrm>
          <a:prstGeom prst="rect">
            <a:avLst/>
          </a:prstGeom>
          <a:solidFill>
            <a:srgbClr val="EEF7F0"/>
          </a:solidFill>
          <a:ln>
            <a:noFill/>
          </a:ln>
        </p:spPr>
        <p:txBody>
          <a:bodyPr anchorCtr="0" anchor="t" bIns="45700" lIns="150000" spcFirstLastPara="1" rIns="150000" wrap="square" tIns="150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User asks: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"How do I get time off?"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3333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Converts question to numbers.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Compares to all documents.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3333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Finds: "Annual leave..." chunk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(very close in meaning).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3333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Result:  Returns the right page.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3333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User is happy. 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5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683FB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 Do We Store All These Numbers?</a:t>
            </a:r>
            <a:endParaRPr/>
          </a:p>
        </p:txBody>
      </p:sp>
      <p:sp>
        <p:nvSpPr>
          <p:cNvPr id="177" name="Google Shape;177;p15"/>
          <p:cNvSpPr txBox="1"/>
          <p:nvPr/>
        </p:nvSpPr>
        <p:spPr>
          <a:xfrm>
            <a:off x="571500" y="1000000"/>
            <a:ext cx="8000100" cy="40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Imagine you have 1 million documents.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Each one becomes a list of 1536 numbers (an embedding).</a:t>
            </a:r>
            <a:endParaRPr b="0" i="0" sz="14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When a user asks a question, you have to: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• Compare the question's embedding to ALL million embeddings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• Find the closest few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• Do this in less than a second</a:t>
            </a:r>
            <a:endParaRPr b="0" i="0" sz="14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A regular database (MySQL, Postgres) is too slow for this.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i="0" sz="1500" u="none" cap="none" strike="noStrike">
              <a:solidFill>
                <a:srgbClr val="3333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We need a special database built for similarity search: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A Vector Database.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i="0" sz="1500" u="none" cap="none" strike="noStrike">
              <a:solidFill>
                <a:srgbClr val="3333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Its only job: store embeddings, and find the nearest ones — FAST.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6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683FB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Popular Vector Databases</a:t>
            </a:r>
            <a:endParaRPr/>
          </a:p>
        </p:txBody>
      </p:sp>
      <p:graphicFrame>
        <p:nvGraphicFramePr>
          <p:cNvPr id="183" name="Google Shape;183;p16"/>
          <p:cNvGraphicFramePr/>
          <p:nvPr/>
        </p:nvGraphicFramePr>
        <p:xfrm>
          <a:off x="457200" y="1100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{EE2C0BB9-3CFF-4CCA-9269-F0D1CF88E965}</a:tableStyleId>
              </a:tblPr>
              <a:tblGrid>
                <a:gridCol w="2743200"/>
                <a:gridCol w="2743200"/>
                <a:gridCol w="2743200"/>
              </a:tblGrid>
              <a:tr h="3625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Vector DB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683FB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Best for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683FB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Hosted / Local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683FBE"/>
                    </a:solidFill>
                  </a:tcPr>
                </a:tc>
              </a:tr>
              <a:tr h="362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444444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Pinecone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44444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Production apps, easy to start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44444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Hosted (cloud)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62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444444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Weaviate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44444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Open-source, lots of features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44444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Both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6FC"/>
                    </a:solidFill>
                  </a:tcPr>
                </a:tc>
              </a:tr>
              <a:tr h="362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444444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Chroma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44444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Quick prototypes, simple Python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44444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Local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62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444444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FAISS (Meta)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44444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Lightweight, in-memory search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44444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Local library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6FC"/>
                    </a:solidFill>
                  </a:tcPr>
                </a:tc>
              </a:tr>
              <a:tr h="362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444444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Qdrant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44444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Fast, open-source, Rust-built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44444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Both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62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444444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Milvus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44444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Massive scale, billions of vectors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44444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Both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6FC"/>
                    </a:solidFill>
                  </a:tcPr>
                </a:tc>
              </a:tr>
              <a:tr h="362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444444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pgvector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44444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Postgres extension — reuse your DB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44444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Local / hosted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4" name="Google Shape;184;p16"/>
          <p:cNvSpPr txBox="1"/>
          <p:nvPr/>
        </p:nvSpPr>
        <p:spPr>
          <a:xfrm>
            <a:off x="457200" y="4250000"/>
            <a:ext cx="82296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83FBE"/>
                </a:solidFill>
                <a:latin typeface="Verdana"/>
                <a:ea typeface="Verdana"/>
                <a:cs typeface="Verdana"/>
                <a:sym typeface="Verdana"/>
              </a:rPr>
              <a:t>For learning: Chroma or FAISS.   For production: Pinecone, Qdrant, or pgvector.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7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5A98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Full RAG Pipeline — Part A: Indexing (Done Once)</a:t>
            </a:r>
            <a:endParaRPr/>
          </a:p>
        </p:txBody>
      </p:sp>
      <p:sp>
        <p:nvSpPr>
          <p:cNvPr id="190" name="Google Shape;190;p17"/>
          <p:cNvSpPr txBox="1"/>
          <p:nvPr/>
        </p:nvSpPr>
        <p:spPr>
          <a:xfrm>
            <a:off x="571500" y="1000000"/>
            <a:ext cx="8000100" cy="38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Before users can ask anything, you prepare your data:</a:t>
            </a:r>
            <a:endParaRPr b="0" i="0" sz="12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①  Load</a:t>
            </a:r>
            <a:endParaRPr sz="12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     Read all your documents — PDFs, web pages, Word docs, Confluence, etc.</a:t>
            </a:r>
            <a:endParaRPr b="0" i="0" sz="12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②  Chunk</a:t>
            </a:r>
            <a:endParaRPr sz="12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     Split each doc into small pieces (~200-500 words each).</a:t>
            </a:r>
            <a:endParaRPr sz="12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     Why? An LLM can't read a 500-page PDF at once.</a:t>
            </a:r>
            <a:endParaRPr b="0" i="0" sz="12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③  Embed</a:t>
            </a:r>
            <a:endParaRPr sz="12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     Send each chunk through an embedding model.</a:t>
            </a:r>
            <a:endParaRPr sz="12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     Get back a list of numbers per chunk.</a:t>
            </a:r>
            <a:endParaRPr b="0" i="0" sz="12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④  Store</a:t>
            </a:r>
            <a:endParaRPr sz="12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     Save all the numbers (and the original chunk) into a vector DB.</a:t>
            </a:r>
            <a:endParaRPr b="0" i="0" sz="12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Done. Your data is now searchable by meaning.</a:t>
            </a:r>
            <a:endParaRPr sz="12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8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5A98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Full RAG Pipeline — Part B: Answering (Every Time)</a:t>
            </a:r>
            <a:endParaRPr/>
          </a:p>
        </p:txBody>
      </p:sp>
      <p:sp>
        <p:nvSpPr>
          <p:cNvPr id="196" name="Google Shape;196;p18"/>
          <p:cNvSpPr txBox="1"/>
          <p:nvPr/>
        </p:nvSpPr>
        <p:spPr>
          <a:xfrm>
            <a:off x="521600" y="1166275"/>
            <a:ext cx="8000100" cy="3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When a user actually asks a question:</a:t>
            </a:r>
            <a:endParaRPr b="0" i="0" sz="10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①  Embed the question</a:t>
            </a:r>
            <a:endParaRPr sz="10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     Use the SAME embedding model as before.</a:t>
            </a:r>
            <a:endParaRPr b="0" i="0" sz="10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②  Search the vector DB</a:t>
            </a:r>
            <a:endParaRPr sz="10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     Find the top 3-5 chunks closest to the question.</a:t>
            </a:r>
            <a:endParaRPr b="0" i="0" sz="10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③  Build the prompt</a:t>
            </a:r>
            <a:endParaRPr sz="10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     Combine:  the user's question  +  the retrieved chunks.</a:t>
            </a:r>
            <a:endParaRPr b="0" i="0" sz="10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④  Call the LLM</a:t>
            </a:r>
            <a:endParaRPr sz="10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     "Here's some context. Answer the user's question using ONLY this."</a:t>
            </a:r>
            <a:endParaRPr b="0" i="0" sz="10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⑤  Return the answer</a:t>
            </a:r>
            <a:endParaRPr sz="10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     The LLM reads the chunks and gives a grounded, factual answer.</a:t>
            </a:r>
            <a:endParaRPr b="0" i="0" sz="10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Now the AI knows YOUR data — without ever being retrained.</a:t>
            </a:r>
            <a:endParaRPr sz="10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9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683FB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Chunking — Small but Critical</a:t>
            </a:r>
            <a:endParaRPr/>
          </a:p>
        </p:txBody>
      </p:sp>
      <p:sp>
        <p:nvSpPr>
          <p:cNvPr id="202" name="Google Shape;202;p19"/>
          <p:cNvSpPr txBox="1"/>
          <p:nvPr/>
        </p:nvSpPr>
        <p:spPr>
          <a:xfrm>
            <a:off x="571500" y="1050000"/>
            <a:ext cx="8000000" cy="3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C0392B"/>
                </a:solidFill>
                <a:latin typeface="Verdana"/>
                <a:ea typeface="Verdana"/>
                <a:cs typeface="Verdana"/>
                <a:sym typeface="Verdana"/>
              </a:rPr>
              <a:t>Splitting your docs into chunks sounds boring. It is the #1 reason RAG fails.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rgbClr val="C0392B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C0392B"/>
                </a:solidFill>
                <a:latin typeface="Verdana"/>
                <a:ea typeface="Verdana"/>
                <a:cs typeface="Verdana"/>
                <a:sym typeface="Verdana"/>
              </a:rPr>
              <a:t>Chunks too BIG: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 • Embedding loses focus — too many topics in one vector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 • Search returns 'roughly related' but not 'exact answer'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C0392B"/>
                </a:solidFill>
                <a:latin typeface="Verdana"/>
                <a:ea typeface="Verdana"/>
                <a:cs typeface="Verdana"/>
                <a:sym typeface="Verdana"/>
              </a:rPr>
              <a:t>Chunks too SMALL: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 • Loses context — sentences get cut off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 • A chunk like "It costs ₹500." has no idea what "It" is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E884D"/>
                </a:solidFill>
                <a:latin typeface="Verdana"/>
                <a:ea typeface="Verdana"/>
                <a:cs typeface="Verdana"/>
                <a:sym typeface="Verdana"/>
              </a:rPr>
              <a:t>Good defaults: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 • 200-500 words per chunk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 • 10-20% overlap between chunks (so context isn't cut)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 • Try to split at natural boundaries — paragraphs, headings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83FBE"/>
                </a:solidFill>
                <a:latin typeface="Verdana"/>
                <a:ea typeface="Verdana"/>
                <a:cs typeface="Verdana"/>
                <a:sym typeface="Verdana"/>
              </a:rPr>
              <a:t>Iterate. Test queries. Adjust chunk size until answers feel right.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e285c585cb_1_3"/>
          <p:cNvSpPr txBox="1"/>
          <p:nvPr/>
        </p:nvSpPr>
        <p:spPr>
          <a:xfrm>
            <a:off x="315075" y="214200"/>
            <a:ext cx="8229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683FB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Chunking Strategies</a:t>
            </a:r>
            <a:endParaRPr/>
          </a:p>
        </p:txBody>
      </p:sp>
      <p:sp>
        <p:nvSpPr>
          <p:cNvPr id="208" name="Google Shape;208;g3e285c585cb_1_3"/>
          <p:cNvSpPr txBox="1"/>
          <p:nvPr/>
        </p:nvSpPr>
        <p:spPr>
          <a:xfrm>
            <a:off x="250000" y="950000"/>
            <a:ext cx="2049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5A98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Fixed-Size</a:t>
            </a:r>
            <a:endParaRPr/>
          </a:p>
        </p:txBody>
      </p:sp>
      <p:sp>
        <p:nvSpPr>
          <p:cNvPr id="209" name="Google Shape;209;g3e285c585cb_1_3"/>
          <p:cNvSpPr txBox="1"/>
          <p:nvPr/>
        </p:nvSpPr>
        <p:spPr>
          <a:xfrm>
            <a:off x="250000" y="1350000"/>
            <a:ext cx="2049900" cy="13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Equal-sized pieces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(e.g., every 500 words)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Analogy: Cutting bread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into equal slices — may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cut through a sentence</a:t>
            </a:r>
            <a:endParaRPr/>
          </a:p>
        </p:txBody>
      </p:sp>
      <p:sp>
        <p:nvSpPr>
          <p:cNvPr id="210" name="Google Shape;210;g3e285c585cb_1_3"/>
          <p:cNvSpPr txBox="1"/>
          <p:nvPr/>
        </p:nvSpPr>
        <p:spPr>
          <a:xfrm>
            <a:off x="2450000" y="950000"/>
            <a:ext cx="2049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683FB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Paragraph-Based</a:t>
            </a:r>
            <a:endParaRPr/>
          </a:p>
        </p:txBody>
      </p:sp>
      <p:sp>
        <p:nvSpPr>
          <p:cNvPr id="211" name="Google Shape;211;g3e285c585cb_1_3"/>
          <p:cNvSpPr txBox="1"/>
          <p:nvPr/>
        </p:nvSpPr>
        <p:spPr>
          <a:xfrm>
            <a:off x="2450000" y="1350000"/>
            <a:ext cx="2049900" cy="15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Split at natural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boundaries: sentences,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paragraphs, headers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Analogy: Tearing a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newspaper along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article boundaries</a:t>
            </a:r>
            <a:endParaRPr/>
          </a:p>
        </p:txBody>
      </p:sp>
      <p:sp>
        <p:nvSpPr>
          <p:cNvPr id="212" name="Google Shape;212;g3e285c585cb_1_3"/>
          <p:cNvSpPr txBox="1"/>
          <p:nvPr/>
        </p:nvSpPr>
        <p:spPr>
          <a:xfrm>
            <a:off x="4650000" y="950000"/>
            <a:ext cx="2049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D46B0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Semantic</a:t>
            </a:r>
            <a:endParaRPr/>
          </a:p>
        </p:txBody>
      </p:sp>
      <p:sp>
        <p:nvSpPr>
          <p:cNvPr id="213" name="Google Shape;213;g3e285c585cb_1_3"/>
          <p:cNvSpPr txBox="1"/>
          <p:nvPr/>
        </p:nvSpPr>
        <p:spPr>
          <a:xfrm>
            <a:off x="4650000" y="1350000"/>
            <a:ext cx="2049900" cy="15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Group by meaning —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same-topic paragraphs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stay together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Analogy: Organizing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a recipe by steps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(prep vs cooking)</a:t>
            </a:r>
            <a:endParaRPr/>
          </a:p>
        </p:txBody>
      </p:sp>
      <p:sp>
        <p:nvSpPr>
          <p:cNvPr id="214" name="Google Shape;214;g3e285c585cb_1_3"/>
          <p:cNvSpPr txBox="1"/>
          <p:nvPr/>
        </p:nvSpPr>
        <p:spPr>
          <a:xfrm>
            <a:off x="6850000" y="950000"/>
            <a:ext cx="2049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2E86C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Recursive</a:t>
            </a:r>
            <a:endParaRPr/>
          </a:p>
        </p:txBody>
      </p:sp>
      <p:sp>
        <p:nvSpPr>
          <p:cNvPr id="215" name="Google Shape;215;g3e285c585cb_1_3"/>
          <p:cNvSpPr txBox="1"/>
          <p:nvPr/>
        </p:nvSpPr>
        <p:spPr>
          <a:xfrm>
            <a:off x="6850000" y="1350000"/>
            <a:ext cx="2049900" cy="15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Split on largest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boundary first, then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subdivide as needed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Analogy: Bookshelf —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genre → author → title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Keep groupings intact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0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5A98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How to Make RAG Answers Better</a:t>
            </a:r>
            <a:endParaRPr/>
          </a:p>
        </p:txBody>
      </p:sp>
      <p:sp>
        <p:nvSpPr>
          <p:cNvPr id="221" name="Google Shape;221;p20"/>
          <p:cNvSpPr txBox="1"/>
          <p:nvPr/>
        </p:nvSpPr>
        <p:spPr>
          <a:xfrm>
            <a:off x="571500" y="1000000"/>
            <a:ext cx="8000000" cy="3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1.  Better chunking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     Test different sizes. Use overlap. Keep headings with content.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2.  Better embeddings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     Use a strong model (text-embedding-3-large, Cohere v3, etc.)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3.  Retrieve MORE chunks, then narrow down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     Get top 20 → rerank → keep best 5. (We'll cover reranking in Part 2.)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4.  Add metadata filters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     "Only search docs from product=Mobile, year=2026."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5.  Tell the LLM to say 'I don't know'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     "If the context doesn't answer it, say so. Don't guess."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6.  Show the source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     Display which document the answer came from. Builds user trust.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1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683FB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Common RAG Mistakes — Do's and Don'ts</a:t>
            </a:r>
            <a:endParaRPr/>
          </a:p>
        </p:txBody>
      </p:sp>
      <p:sp>
        <p:nvSpPr>
          <p:cNvPr id="227" name="Google Shape;227;p21"/>
          <p:cNvSpPr txBox="1"/>
          <p:nvPr/>
        </p:nvSpPr>
        <p:spPr>
          <a:xfrm>
            <a:off x="457200" y="950000"/>
            <a:ext cx="380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E884D"/>
                </a:solidFill>
                <a:latin typeface="Verdana"/>
                <a:ea typeface="Verdana"/>
                <a:cs typeface="Verdana"/>
                <a:sym typeface="Verdana"/>
              </a:rPr>
              <a:t>✓ DO</a:t>
            </a:r>
            <a:endParaRPr/>
          </a:p>
        </p:txBody>
      </p:sp>
      <p:sp>
        <p:nvSpPr>
          <p:cNvPr id="228" name="Google Shape;228;p21"/>
          <p:cNvSpPr txBox="1"/>
          <p:nvPr/>
        </p:nvSpPr>
        <p:spPr>
          <a:xfrm>
            <a:off x="457200" y="1350000"/>
            <a:ext cx="3900000" cy="3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•  Pick chunk size based on YOUR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docs — not a blog post default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•  Use the SAME embedding model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for indexing AND querying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•  Always include the source/citation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in the final answer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•  Test with real user questions —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not made-up ones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•  Re-embed when you switch models</a:t>
            </a:r>
            <a:endParaRPr/>
          </a:p>
        </p:txBody>
      </p:sp>
      <p:sp>
        <p:nvSpPr>
          <p:cNvPr id="229" name="Google Shape;229;p21"/>
          <p:cNvSpPr txBox="1"/>
          <p:nvPr/>
        </p:nvSpPr>
        <p:spPr>
          <a:xfrm>
            <a:off x="4800000" y="950000"/>
            <a:ext cx="380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C0392B"/>
                </a:solidFill>
                <a:latin typeface="Verdana"/>
                <a:ea typeface="Verdana"/>
                <a:cs typeface="Verdana"/>
                <a:sym typeface="Verdana"/>
              </a:rPr>
              <a:t>✗ DON'T</a:t>
            </a:r>
            <a:endParaRPr/>
          </a:p>
        </p:txBody>
      </p:sp>
      <p:sp>
        <p:nvSpPr>
          <p:cNvPr id="230" name="Google Shape;230;p21"/>
          <p:cNvSpPr txBox="1"/>
          <p:nvPr/>
        </p:nvSpPr>
        <p:spPr>
          <a:xfrm>
            <a:off x="4800000" y="1350000"/>
            <a:ext cx="3900000" cy="3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•  Don't dump giant 5000-word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chunks — search will be vague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•  Don't mix old and new embedding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models — vectors won't match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•  Don't trust top-1 result blindly —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fetch top 3-5 for safety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•  Don't forget metadata — date,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author, doc-type save you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•  Don't index passwords or PII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2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683FB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RAG vs Fine-Tuning vs Plain Prompting</a:t>
            </a:r>
            <a:endParaRPr/>
          </a:p>
        </p:txBody>
      </p:sp>
      <p:graphicFrame>
        <p:nvGraphicFramePr>
          <p:cNvPr id="236" name="Google Shape;236;p22"/>
          <p:cNvGraphicFramePr/>
          <p:nvPr/>
        </p:nvGraphicFramePr>
        <p:xfrm>
          <a:off x="457200" y="1100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{EE2C0BB9-3CFF-4CCA-9269-F0D1CF88E965}</a:tableStyleId>
              </a:tblPr>
              <a:tblGrid>
                <a:gridCol w="2743200"/>
                <a:gridCol w="2743200"/>
                <a:gridCol w="2743200"/>
              </a:tblGrid>
              <a:tr h="48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Approach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683FB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Use when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683FB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Cost / effort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683FBE"/>
                    </a:solidFill>
                  </a:tcPr>
                </a:tc>
              </a:tr>
              <a:tr h="48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444444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Plain prompting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44444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General questions, no private data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44444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Lowest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48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444444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RAG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44444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You have docs the LLM hasn't seen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44444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Low-Medium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6FC"/>
                    </a:solidFill>
                  </a:tcPr>
                </a:tc>
              </a:tr>
              <a:tr h="48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444444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Fine-tuning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44444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You need a specific style/format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44444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High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48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444444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RAG + Fine-tune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44444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Both private knowledge AND style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44444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Highest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6FC"/>
                    </a:solidFill>
                  </a:tcPr>
                </a:tc>
              </a:tr>
            </a:tbl>
          </a:graphicData>
        </a:graphic>
      </p:graphicFrame>
      <p:sp>
        <p:nvSpPr>
          <p:cNvPr id="237" name="Google Shape;237;p22"/>
          <p:cNvSpPr txBox="1"/>
          <p:nvPr/>
        </p:nvSpPr>
        <p:spPr>
          <a:xfrm>
            <a:off x="457200" y="3700000"/>
            <a:ext cx="82296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683FBE"/>
                </a:solidFill>
                <a:latin typeface="Verdana"/>
                <a:ea typeface="Verdana"/>
                <a:cs typeface="Verdana"/>
                <a:sym typeface="Verdana"/>
              </a:rPr>
              <a:t>Rule of thumb: ALWAYS try RAG first. It's cheaper, faster, and easier to update.</a:t>
            </a:r>
            <a:endParaRPr/>
          </a:p>
        </p:txBody>
      </p:sp>
      <p:sp>
        <p:nvSpPr>
          <p:cNvPr id="238" name="Google Shape;238;p22"/>
          <p:cNvSpPr txBox="1"/>
          <p:nvPr/>
        </p:nvSpPr>
        <p:spPr>
          <a:xfrm>
            <a:off x="457200" y="4050000"/>
            <a:ext cx="82296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Fine-tuning is the last resort, not the first.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3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5A98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Real-World RAG Use Cases</a:t>
            </a:r>
            <a:endParaRPr/>
          </a:p>
        </p:txBody>
      </p:sp>
      <p:sp>
        <p:nvSpPr>
          <p:cNvPr id="244" name="Google Shape;244;p23"/>
          <p:cNvSpPr txBox="1"/>
          <p:nvPr/>
        </p:nvSpPr>
        <p:spPr>
          <a:xfrm>
            <a:off x="499400" y="815750"/>
            <a:ext cx="8000100" cy="38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1.  Internal company chatbot</a:t>
            </a:r>
            <a:endParaRPr sz="13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     "What's our reimbursement policy?" — answers from HR docs.</a:t>
            </a:r>
            <a:endParaRPr b="0" i="0" sz="13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2.  Customer support assistant</a:t>
            </a:r>
            <a:endParaRPr sz="13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     Looks up past tickets and product docs to answer customers.</a:t>
            </a:r>
            <a:endParaRPr b="0" i="0" sz="13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3.  Code search / code Q&amp;A</a:t>
            </a:r>
            <a:endParaRPr sz="13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     Search a huge codebase by intent, not by function name.</a:t>
            </a:r>
            <a:endParaRPr b="0" i="0" sz="13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4.  Legal / compliance copilot</a:t>
            </a:r>
            <a:endParaRPr sz="13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     Read contracts and answer with exact clause references.</a:t>
            </a:r>
            <a:endParaRPr b="0" i="0" sz="13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5.  Doctor's reference assistant</a:t>
            </a:r>
            <a:endParaRPr sz="13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     Retrieve from medical literature before answering — never hallucinate.</a:t>
            </a:r>
            <a:endParaRPr b="0" i="0" sz="1300" u="none" cap="none" strike="noStrike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6.  Personal knowledge base</a:t>
            </a:r>
            <a:endParaRPr sz="13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     Notion / Obsidian / Google Drive search — all your notes, by meaning.</a:t>
            </a:r>
            <a:endParaRPr sz="13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4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683FB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RAG Toolbox — A Quick Snapshot</a:t>
            </a:r>
            <a:endParaRPr/>
          </a:p>
        </p:txBody>
      </p:sp>
      <p:graphicFrame>
        <p:nvGraphicFramePr>
          <p:cNvPr id="250" name="Google Shape;250;p24"/>
          <p:cNvGraphicFramePr/>
          <p:nvPr/>
        </p:nvGraphicFramePr>
        <p:xfrm>
          <a:off x="457200" y="1100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{EE2C0BB9-3CFF-4CCA-9269-F0D1CF88E965}</a:tableStyleId>
              </a:tblPr>
              <a:tblGrid>
                <a:gridCol w="4114800"/>
                <a:gridCol w="4114800"/>
              </a:tblGrid>
              <a:tr h="414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Step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683FB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Popular tools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683FBE"/>
                    </a:solidFill>
                  </a:tcPr>
                </a:tc>
              </a:tr>
              <a:tr h="414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444444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Load documents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44444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LangChain loaders, LlamaIndex, Unstructured.io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414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444444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Chunk text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44444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LangChain text-splitters, semantic chunkers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6FC"/>
                    </a:solidFill>
                  </a:tcPr>
                </a:tc>
              </a:tr>
              <a:tr h="414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444444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Generate embeddings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44444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OpenAI, Cohere, Google, HuggingFace, Voyage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414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444444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Vector database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44444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Pinecone, Chroma, Qdrant, Weaviate, pgvector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6FC"/>
                    </a:solidFill>
                  </a:tcPr>
                </a:tc>
              </a:tr>
              <a:tr h="414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444444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Orchestrate the flow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44444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LangChain, LlamaIndex (we'll cover later)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41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444444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LLM for final answer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44444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GPT-4o, Claude, Gemini, Llama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6FC"/>
                    </a:solidFill>
                  </a:tcPr>
                </a:tc>
              </a:tr>
            </a:tbl>
          </a:graphicData>
        </a:graphic>
      </p:graphicFrame>
      <p:sp>
        <p:nvSpPr>
          <p:cNvPr id="251" name="Google Shape;251;p24"/>
          <p:cNvSpPr txBox="1"/>
          <p:nvPr/>
        </p:nvSpPr>
        <p:spPr>
          <a:xfrm>
            <a:off x="457200" y="4250000"/>
            <a:ext cx="82296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83FBE"/>
                </a:solidFill>
                <a:latin typeface="Verdana"/>
                <a:ea typeface="Verdana"/>
                <a:cs typeface="Verdana"/>
                <a:sym typeface="Verdana"/>
              </a:rPr>
              <a:t>You don't need to memorize this. Just know that each step has tools ready to use.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8"/>
          <p:cNvSpPr txBox="1"/>
          <p:nvPr/>
        </p:nvSpPr>
        <p:spPr>
          <a:xfrm>
            <a:off x="500000" y="1500000"/>
            <a:ext cx="8000000" cy="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683FB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Questions?</a:t>
            </a:r>
            <a:endParaRPr/>
          </a:p>
        </p:txBody>
      </p:sp>
      <p:sp>
        <p:nvSpPr>
          <p:cNvPr id="257" name="Google Shape;257;p28"/>
          <p:cNvSpPr txBox="1"/>
          <p:nvPr/>
        </p:nvSpPr>
        <p:spPr>
          <a:xfrm>
            <a:off x="500000" y="2400000"/>
            <a:ext cx="8000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Today: teaching the AI YOUR data.   Next: making it really good at it.</a:t>
            </a:r>
            <a:endParaRPr/>
          </a:p>
        </p:txBody>
      </p:sp>
      <p:sp>
        <p:nvSpPr>
          <p:cNvPr id="258" name="Google Shape;258;p28"/>
          <p:cNvSpPr txBox="1"/>
          <p:nvPr/>
        </p:nvSpPr>
        <p:spPr>
          <a:xfrm>
            <a:off x="500000" y="3500000"/>
            <a:ext cx="8000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5A98A"/>
                </a:solidFill>
                <a:latin typeface="Verdana"/>
                <a:ea typeface="Verdana"/>
                <a:cs typeface="Verdana"/>
                <a:sym typeface="Verdana"/>
              </a:rPr>
              <a:t>Saksham Arora  •  Software Engineer II @ Intuit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